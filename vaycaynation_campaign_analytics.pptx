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1" r:id="rId5"/>
    <p:sldId id="282" r:id="rId6"/>
    <p:sldId id="277" r:id="rId7"/>
    <p:sldId id="276" r:id="rId8"/>
    <p:sldId id="259" r:id="rId9"/>
    <p:sldId id="279" r:id="rId10"/>
    <p:sldId id="260" r:id="rId11"/>
    <p:sldId id="261" r:id="rId12"/>
    <p:sldId id="262" r:id="rId13"/>
    <p:sldId id="263" r:id="rId14"/>
    <p:sldId id="280" r:id="rId15"/>
    <p:sldId id="264" r:id="rId16"/>
    <p:sldId id="265" r:id="rId17"/>
    <p:sldId id="274" r:id="rId18"/>
    <p:sldId id="271" r:id="rId19"/>
    <p:sldId id="273" r:id="rId20"/>
    <p:sldId id="272" r:id="rId21"/>
    <p:sldId id="275" r:id="rId22"/>
    <p:sldId id="266" r:id="rId23"/>
    <p:sldId id="269" r:id="rId24"/>
    <p:sldId id="267" r:id="rId25"/>
    <p:sldId id="268" r:id="rId26"/>
    <p:sldId id="270" r:id="rId27"/>
    <p:sldId id="283" r:id="rId28"/>
  </p:sldIdLst>
  <p:sldSz cx="14630400" cy="8229600"/>
  <p:notesSz cx="8229600" cy="14630400"/>
  <p:embeddedFontLst>
    <p:embeddedFont>
      <p:font typeface="Inter" panose="020B0604020202020204" charset="0"/>
      <p:regular r:id="rId30"/>
    </p:embeddedFont>
  </p:embeddedFontLst>
  <p:defaultTextStyle>
    <a:defPPr>
      <a:defRPr lang="en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FB7A85-8185-BAE7-E2FF-49F45EA9FB2E}" v="25" dt="2026-05-06T08:46:13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qucloud-my.sharepoint.com/personal/hs2401817_qu_edu_qa/Documents/W20331-XLS-ENG%20-%20updated%20Haniyah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qucloud-my.sharepoint.com/personal/hs2401817_qu_edu_qa/Documents/W20331-XLS-ENG%20-%20updated%20Haniyah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qucloud-my.sharepoint.com/personal/hs2401817_qu_edu_qa/Documents/W20331-XLS-ENG%20-%20updated%20Haniyah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qucloud-my.sharepoint.com/personal/hs2401817_qu_edu_qa/Documents/W20331-XLS-ENG%20-%20updated%20Haniyah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qucloud-my.sharepoint.com/personal/hs2401817_qu_edu_qa/Documents/W20331-XLS-ENG%20-%20updated%20Haniyah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baseline="0">
                <a:effectLst/>
              </a:rPr>
              <a:t>Average Lift2 Visits by Day of Week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 sheets'!$K$23</c:f>
              <c:strCache>
                <c:ptCount val="1"/>
                <c:pt idx="0">
                  <c:v>Average of IncrementalLift2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89000"/>
                    </a:schemeClr>
                  </a:gs>
                  <a:gs pos="23000">
                    <a:schemeClr val="accent6">
                      <a:lumMod val="89000"/>
                    </a:schemeClr>
                  </a:gs>
                  <a:gs pos="69000">
                    <a:schemeClr val="accent6">
                      <a:lumMod val="75000"/>
                    </a:schemeClr>
                  </a:gs>
                  <a:gs pos="97000">
                    <a:schemeClr val="accent6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6DA-D641-9EB7-8C86B8A2B7D2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89000"/>
                    </a:schemeClr>
                  </a:gs>
                  <a:gs pos="23000">
                    <a:schemeClr val="accent6">
                      <a:lumMod val="89000"/>
                    </a:schemeClr>
                  </a:gs>
                  <a:gs pos="69000">
                    <a:schemeClr val="accent6">
                      <a:lumMod val="75000"/>
                    </a:schemeClr>
                  </a:gs>
                  <a:gs pos="97000">
                    <a:schemeClr val="accent6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6DA-D641-9EB7-8C86B8A2B7D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 sheets'!$J$24:$J$30</c:f>
              <c:strCache>
                <c:ptCount val="7"/>
                <c:pt idx="0">
                  <c:v>Sat</c:v>
                </c:pt>
                <c:pt idx="1">
                  <c:v>Sun</c:v>
                </c:pt>
                <c:pt idx="2">
                  <c:v>Wed</c:v>
                </c:pt>
                <c:pt idx="3">
                  <c:v>Fri</c:v>
                </c:pt>
                <c:pt idx="4">
                  <c:v>Tue</c:v>
                </c:pt>
                <c:pt idx="5">
                  <c:v>Mon</c:v>
                </c:pt>
                <c:pt idx="6">
                  <c:v>Thu</c:v>
                </c:pt>
              </c:strCache>
            </c:strRef>
          </c:cat>
          <c:val>
            <c:numRef>
              <c:f>'Pivot table sheets'!$K$24:$K$30</c:f>
              <c:numCache>
                <c:formatCode>0.00</c:formatCode>
                <c:ptCount val="7"/>
                <c:pt idx="0">
                  <c:v>100.26086956521739</c:v>
                </c:pt>
                <c:pt idx="1">
                  <c:v>94.25</c:v>
                </c:pt>
                <c:pt idx="2">
                  <c:v>81.857142857142861</c:v>
                </c:pt>
                <c:pt idx="3">
                  <c:v>73.9375</c:v>
                </c:pt>
                <c:pt idx="4">
                  <c:v>67.095238095238102</c:v>
                </c:pt>
                <c:pt idx="5">
                  <c:v>55.93333333333333</c:v>
                </c:pt>
                <c:pt idx="6">
                  <c:v>52.31818181818182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6DA-D641-9EB7-8C86B8A2B7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82203552"/>
        <c:axId val="1082226576"/>
      </c:barChart>
      <c:catAx>
        <c:axId val="1082203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L"/>
          </a:p>
        </c:txPr>
        <c:crossAx val="1082226576"/>
        <c:crosses val="autoZero"/>
        <c:auto val="1"/>
        <c:lblAlgn val="ctr"/>
        <c:lblOffset val="100"/>
        <c:noMultiLvlLbl val="0"/>
      </c:catAx>
      <c:valAx>
        <c:axId val="1082226576"/>
        <c:scaling>
          <c:orientation val="minMax"/>
        </c:scaling>
        <c:delete val="1"/>
        <c:axPos val="b"/>
        <c:numFmt formatCode="0.00" sourceLinked="1"/>
        <c:majorTickMark val="none"/>
        <c:minorTickMark val="none"/>
        <c:tickLblPos val="nextTo"/>
        <c:crossAx val="1082203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</a:rPr>
              <a:t>Average Lift20 Visits by Day of Week</a:t>
            </a:r>
            <a:endParaRPr 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 sheets'!$K$32</c:f>
              <c:strCache>
                <c:ptCount val="1"/>
                <c:pt idx="0">
                  <c:v>Average of IncrementalLift20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89000"/>
                    </a:schemeClr>
                  </a:gs>
                  <a:gs pos="23000">
                    <a:schemeClr val="accent6">
                      <a:lumMod val="89000"/>
                    </a:schemeClr>
                  </a:gs>
                  <a:gs pos="69000">
                    <a:schemeClr val="accent6">
                      <a:lumMod val="75000"/>
                    </a:schemeClr>
                  </a:gs>
                  <a:gs pos="97000">
                    <a:schemeClr val="accent6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6C-E047-AE4C-B4A380950CB3}"/>
              </c:ext>
            </c:extLst>
          </c:dPt>
          <c:dPt>
            <c:idx val="1"/>
            <c:invertIfNegative val="0"/>
            <c:bubble3D val="0"/>
            <c:spPr>
              <a:gradFill flip="none" rotWithShape="1">
                <a:gsLst>
                  <a:gs pos="0">
                    <a:schemeClr val="accent6">
                      <a:lumMod val="89000"/>
                    </a:schemeClr>
                  </a:gs>
                  <a:gs pos="23000">
                    <a:schemeClr val="accent6">
                      <a:lumMod val="89000"/>
                    </a:schemeClr>
                  </a:gs>
                  <a:gs pos="69000">
                    <a:schemeClr val="accent6">
                      <a:lumMod val="75000"/>
                    </a:schemeClr>
                  </a:gs>
                  <a:gs pos="97000">
                    <a:schemeClr val="accent6">
                      <a:lumMod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6C-E047-AE4C-B4A380950CB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P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 sheets'!$J$33:$J$39</c:f>
              <c:strCache>
                <c:ptCount val="7"/>
                <c:pt idx="0">
                  <c:v>Sat</c:v>
                </c:pt>
                <c:pt idx="1">
                  <c:v>Fri</c:v>
                </c:pt>
                <c:pt idx="2">
                  <c:v>Mon</c:v>
                </c:pt>
                <c:pt idx="3">
                  <c:v>Wed</c:v>
                </c:pt>
                <c:pt idx="4">
                  <c:v>Tue</c:v>
                </c:pt>
                <c:pt idx="5">
                  <c:v>Sun</c:v>
                </c:pt>
                <c:pt idx="6">
                  <c:v>Thu</c:v>
                </c:pt>
              </c:strCache>
            </c:strRef>
          </c:cat>
          <c:val>
            <c:numRef>
              <c:f>'Pivot table sheets'!$K$33:$K$39</c:f>
              <c:numCache>
                <c:formatCode>0.00</c:formatCode>
                <c:ptCount val="7"/>
                <c:pt idx="0">
                  <c:v>403.52173913043481</c:v>
                </c:pt>
                <c:pt idx="1">
                  <c:v>320.625</c:v>
                </c:pt>
                <c:pt idx="2">
                  <c:v>310.76666666666665</c:v>
                </c:pt>
                <c:pt idx="3">
                  <c:v>285.28571428571428</c:v>
                </c:pt>
                <c:pt idx="4">
                  <c:v>239.85714285714286</c:v>
                </c:pt>
                <c:pt idx="5">
                  <c:v>200.75</c:v>
                </c:pt>
                <c:pt idx="6">
                  <c:v>185.31818181818181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6C-E047-AE4C-B4A380950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89316719"/>
        <c:axId val="1486051567"/>
      </c:barChart>
      <c:catAx>
        <c:axId val="14893167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L"/>
          </a:p>
        </c:txPr>
        <c:crossAx val="1486051567"/>
        <c:crosses val="autoZero"/>
        <c:auto val="1"/>
        <c:lblAlgn val="ctr"/>
        <c:lblOffset val="100"/>
        <c:noMultiLvlLbl val="0"/>
      </c:catAx>
      <c:valAx>
        <c:axId val="1486051567"/>
        <c:scaling>
          <c:orientation val="minMax"/>
        </c:scaling>
        <c:delete val="1"/>
        <c:axPos val="b"/>
        <c:numFmt formatCode="0.00" sourceLinked="1"/>
        <c:majorTickMark val="none"/>
        <c:minorTickMark val="none"/>
        <c:tickLblPos val="nextTo"/>
        <c:crossAx val="148931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b="0" i="0" u="none" strike="noStrike" baseline="0">
                <a:effectLst/>
              </a:rPr>
              <a:t>Average Lift2 Visits by Day of Week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82203552"/>
        <c:axId val="1082226576"/>
      </c:barChart>
      <c:catAx>
        <c:axId val="10822035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L"/>
          </a:p>
        </c:txPr>
        <c:crossAx val="1082226576"/>
        <c:crosses val="autoZero"/>
        <c:auto val="1"/>
        <c:lblAlgn val="ctr"/>
        <c:lblOffset val="100"/>
        <c:noMultiLvlLbl val="0"/>
      </c:catAx>
      <c:valAx>
        <c:axId val="1082226576"/>
        <c:scaling>
          <c:orientation val="minMax"/>
        </c:scaling>
        <c:delete val="1"/>
        <c:axPos val="b"/>
        <c:numFmt formatCode="0.00" sourceLinked="1"/>
        <c:majorTickMark val="none"/>
        <c:minorTickMark val="none"/>
        <c:tickLblPos val="nextTo"/>
        <c:crossAx val="1082203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[W20331-XLS-ENG - updated Haniyah.xlsx]Pivot table sheets!PivotTable4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600" b="0" i="0" u="none" strike="noStrike" baseline="0">
                <a:effectLst/>
              </a:rPr>
              <a:t>Spot Analysis - Immediate Website Lift</a:t>
            </a:r>
            <a:endParaRPr lang="en-US" sz="16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'Pivot table sheets'!$E$2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370-544A-8C9C-AED81A8C414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370-544A-8C9C-AED81A8C414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370-544A-8C9C-AED81A8C414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370-544A-8C9C-AED81A8C414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370-544A-8C9C-AED81A8C414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370-544A-8C9C-AED81A8C4143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370-544A-8C9C-AED81A8C4143}"/>
              </c:ext>
            </c:extLst>
          </c:dPt>
          <c:cat>
            <c:strRef>
              <c:f>'Pivot table sheets'!$D$3:$D$10</c:f>
              <c:strCache>
                <c:ptCount val="7"/>
                <c:pt idx="0">
                  <c:v>6</c:v>
                </c:pt>
                <c:pt idx="1">
                  <c:v>1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7</c:v>
                </c:pt>
              </c:strCache>
            </c:strRef>
          </c:cat>
          <c:val>
            <c:numRef>
              <c:f>'Pivot table sheets'!$E$3:$E$10</c:f>
              <c:numCache>
                <c:formatCode>0</c:formatCode>
                <c:ptCount val="7"/>
                <c:pt idx="0">
                  <c:v>95.111111111111114</c:v>
                </c:pt>
                <c:pt idx="1">
                  <c:v>87.967741935483872</c:v>
                </c:pt>
                <c:pt idx="2">
                  <c:v>75.038461538461533</c:v>
                </c:pt>
                <c:pt idx="3">
                  <c:v>69.736842105263165</c:v>
                </c:pt>
                <c:pt idx="4">
                  <c:v>61.888888888888886</c:v>
                </c:pt>
                <c:pt idx="5">
                  <c:v>49.81818181818182</c:v>
                </c:pt>
                <c:pt idx="6">
                  <c:v>23.571428571428573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370-544A-8C9C-AED81A8C41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582352"/>
        <c:axId val="119564944"/>
      </c:barChart>
      <c:catAx>
        <c:axId val="11958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L"/>
          </a:p>
        </c:txPr>
        <c:crossAx val="119564944"/>
        <c:crosses val="autoZero"/>
        <c:auto val="1"/>
        <c:lblAlgn val="ctr"/>
        <c:lblOffset val="100"/>
        <c:noMultiLvlLbl val="0"/>
      </c:catAx>
      <c:valAx>
        <c:axId val="119564944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L"/>
          </a:p>
        </c:txPr>
        <c:crossAx val="119582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[W20331-XLS-ENG - updated Haniyah.xlsx]Pivot table sheets!PivotTable2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6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</a:rPr>
              <a:t>Spot Analysis - </a:t>
            </a:r>
            <a:r>
              <a:rPr lang="en-GB" sz="1600" b="0" i="0" u="none" strike="noStrike" baseline="0">
                <a:effectLst/>
              </a:rPr>
              <a:t>Sustained Website Lift</a:t>
            </a:r>
            <a:r>
              <a:rPr lang="en-GB" sz="16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</a:rPr>
              <a:t> </a:t>
            </a:r>
            <a:endParaRPr lang="en-US" sz="16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PL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'Pivot table sheets'!$Q$2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04-F34E-B150-C74A9E674AC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04-F34E-B150-C74A9E674AC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104-F34E-B150-C74A9E674AC0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104-F34E-B150-C74A9E674AC0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104-F34E-B150-C74A9E674AC0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104-F34E-B150-C74A9E674AC0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104-F34E-B150-C74A9E674AC0}"/>
              </c:ext>
            </c:extLst>
          </c:dPt>
          <c:cat>
            <c:strRef>
              <c:f>'Pivot table sheets'!$P$3:$P$10</c:f>
              <c:strCache>
                <c:ptCount val="7"/>
                <c:pt idx="0">
                  <c:v>5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  <c:pt idx="4">
                  <c:v>1</c:v>
                </c:pt>
                <c:pt idx="5">
                  <c:v>2</c:v>
                </c:pt>
                <c:pt idx="6">
                  <c:v>7</c:v>
                </c:pt>
              </c:strCache>
            </c:strRef>
          </c:cat>
          <c:val>
            <c:numRef>
              <c:f>'Pivot table sheets'!$Q$3:$Q$10</c:f>
              <c:numCache>
                <c:formatCode>0</c:formatCode>
                <c:ptCount val="7"/>
                <c:pt idx="0">
                  <c:v>382.65384615384613</c:v>
                </c:pt>
                <c:pt idx="1">
                  <c:v>356.55555555555554</c:v>
                </c:pt>
                <c:pt idx="2">
                  <c:v>338.77777777777777</c:v>
                </c:pt>
                <c:pt idx="3">
                  <c:v>309.05263157894734</c:v>
                </c:pt>
                <c:pt idx="4">
                  <c:v>292.03225806451616</c:v>
                </c:pt>
                <c:pt idx="5">
                  <c:v>166.18181818181819</c:v>
                </c:pt>
                <c:pt idx="6">
                  <c:v>122.85714285714286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104-F34E-B150-C74A9E674A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745584"/>
        <c:axId val="119710176"/>
      </c:barChart>
      <c:catAx>
        <c:axId val="119745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L"/>
          </a:p>
        </c:txPr>
        <c:crossAx val="119710176"/>
        <c:crosses val="autoZero"/>
        <c:auto val="1"/>
        <c:lblAlgn val="ctr"/>
        <c:lblOffset val="100"/>
        <c:noMultiLvlLbl val="0"/>
      </c:catAx>
      <c:valAx>
        <c:axId val="119710176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L"/>
          </a:p>
        </c:txPr>
        <c:crossAx val="119745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PL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0779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ADCD3-F691-2A4B-F2F8-A32D28FB0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BF6E5-9EDC-DF89-8D99-0CD4FE0C7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05643-6017-0828-6401-C54E0BFCD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8F4BB-F8AE-CF27-3A65-A270BB23C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014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EC18-CFEC-0740-A051-FE968FA2E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81FD2F-836D-70F8-1314-F1D349F18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9D9A6-592B-E53D-1062-999586030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032D5-1633-766F-CF8C-DB9092D503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46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487A2-7E7D-8D05-90EF-7E4BC00C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B08AA-12E5-0D33-8930-E527A46AA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50A8CC-CFEE-442F-FA32-275010EF9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A92E7-08EB-D9CB-7806-C4FC6140D6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57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BC09-D007-8E2B-C01F-A5B96F49D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5C54B-A247-843B-5B61-0DC33B7B4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9635F-076B-EB1F-B26E-9C782D152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DB82A-2B1F-FD89-8131-CECBBDEBF7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71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1" i="0" u="none" strike="noStrike">
                <a:solidFill>
                  <a:srgbClr val="000000"/>
                </a:solidFill>
                <a:effectLst/>
              </a:rPr>
              <a:t>Slide 1 — Overall Statistical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Variances are equal across spots (</a:t>
            </a:r>
            <a:r>
              <a:rPr lang="en-GB" b="0" i="0" u="none" strike="noStrike" err="1">
                <a:solidFill>
                  <a:srgbClr val="000000"/>
                </a:solidFill>
                <a:effectLst/>
              </a:rPr>
              <a:t>Levene’s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 p = .462) → ANOVA assumptions met.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Lift2 differs significantly across the 7 creative spots (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F(6,116)=2.41, p = .031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Effect size is 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small–moderate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 (</a:t>
            </a:r>
            <a:r>
              <a:rPr lang="el-GR" b="0" i="0" u="none" strike="noStrike">
                <a:solidFill>
                  <a:srgbClr val="000000"/>
                </a:solidFill>
                <a:effectLst/>
              </a:rPr>
              <a:t>η² = 0.111), 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meaning creative matters but is not the only driver.</a:t>
            </a:r>
          </a:p>
          <a:p>
            <a:pPr algn="l"/>
            <a:r>
              <a:rPr lang="en-GB" b="1" i="0" u="none" strike="noStrike">
                <a:solidFill>
                  <a:srgbClr val="000000"/>
                </a:solidFill>
                <a:effectLst/>
              </a:rPr>
              <a:t>Slide 2 — Performance Pattern (Practical Insights)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>
                <a:solidFill>
                  <a:srgbClr val="000000"/>
                </a:solidFill>
                <a:effectLst/>
              </a:rPr>
              <a:t>Spot 7 is clearly the lowest-performing spot.</a:t>
            </a:r>
            <a:endParaRPr lang="en-GB" b="0" i="0" u="none" strike="noStrike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>
                <a:solidFill>
                  <a:srgbClr val="000000"/>
                </a:solidFill>
                <a:effectLst/>
              </a:rPr>
              <a:t>Spots 1 and 6 show the strongest Lift2 performance.</a:t>
            </a:r>
            <a:endParaRPr lang="en-GB" b="0" i="0" u="none" strike="noStrike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Other spots (2–5) fall in the middle range with no clear statistical separation.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Tukey tests show no significant pairwise differences, but means indicate a 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top group vs. bottom group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 pattern.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EBAD-EEA0-62AF-0244-61FEDF54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9EEA3-D978-AB9F-EB2B-F38863884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C1F05-B4AA-0238-FDB4-BF252D03D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1" i="0" u="none" strike="noStrike">
                <a:solidFill>
                  <a:srgbClr val="000000"/>
                </a:solidFill>
                <a:effectLst/>
              </a:rPr>
              <a:t>Slide 1 — Overall Statistical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Variances are equal across spots (</a:t>
            </a:r>
            <a:r>
              <a:rPr lang="en-GB" b="0" i="0" u="none" strike="noStrike" err="1">
                <a:solidFill>
                  <a:srgbClr val="000000"/>
                </a:solidFill>
                <a:effectLst/>
              </a:rPr>
              <a:t>Levene’s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 p = .462) → ANOVA assumptions met.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Lift2 differs significantly across the 7 creative spots (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F(6,116)=2.41, p = .031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Effect size is 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small–moderate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 (</a:t>
            </a:r>
            <a:r>
              <a:rPr lang="el-GR" b="0" i="0" u="none" strike="noStrike">
                <a:solidFill>
                  <a:srgbClr val="000000"/>
                </a:solidFill>
                <a:effectLst/>
              </a:rPr>
              <a:t>η² = 0.111), 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meaning creative matters but is not the only driver.</a:t>
            </a:r>
          </a:p>
          <a:p>
            <a:pPr algn="l"/>
            <a:r>
              <a:rPr lang="en-GB" b="1" i="0" u="none" strike="noStrike">
                <a:solidFill>
                  <a:srgbClr val="000000"/>
                </a:solidFill>
                <a:effectLst/>
              </a:rPr>
              <a:t>Slide 2 — Performance Pattern (Practical Insights)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>
                <a:solidFill>
                  <a:srgbClr val="000000"/>
                </a:solidFill>
                <a:effectLst/>
              </a:rPr>
              <a:t>Spot 7 is clearly the lowest-performing spot.</a:t>
            </a:r>
            <a:endParaRPr lang="en-GB" b="0" i="0" u="none" strike="noStrike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>
                <a:solidFill>
                  <a:srgbClr val="000000"/>
                </a:solidFill>
                <a:effectLst/>
              </a:rPr>
              <a:t>Spots 1 and 6 show the strongest Lift2 performance.</a:t>
            </a:r>
            <a:endParaRPr lang="en-GB" b="0" i="0" u="none" strike="noStrike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Other spots (2–5) fall in the middle range with no clear statistical separation.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Tukey tests show no significant pairwise differences, but means indicate a 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top group vs. bottom group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 pattern.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1183B-A417-B15C-7C60-E14E48510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6852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E23E-28A4-FA2D-382F-5A746FE4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87749-DE44-D9E2-DDFD-D4A590847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CB949-00CA-DED1-3041-AE0254028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A4EB4-8EA8-80C4-9778-1E7BC8A7A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48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B4045-0E08-3225-272F-96665CB4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A4D93-A828-D889-C9C4-A24D4F68E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8461F-3EA1-3FD9-9257-67B1476781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6461F-F978-04FF-E8AC-B9F06C1C2D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2677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5F214-455B-4B7A-E076-D2FF9BF0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77AD0-60A4-42AF-48CF-7C4E029F55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CC583F-519B-44D4-3EEB-5CFEDFE45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1" i="0" u="none" strike="noStrike">
                <a:solidFill>
                  <a:srgbClr val="000000"/>
                </a:solidFill>
                <a:effectLst/>
              </a:rPr>
              <a:t>Slide 1 — Overall Statistical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Variances are equal across spots (</a:t>
            </a:r>
            <a:r>
              <a:rPr lang="en-GB" b="0" i="0" u="none" strike="noStrike" err="1">
                <a:solidFill>
                  <a:srgbClr val="000000"/>
                </a:solidFill>
                <a:effectLst/>
              </a:rPr>
              <a:t>Levene’s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 p = .462) → ANOVA assumptions met.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Lift2 differs significantly across the 7 creative spots (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F(6,116)=2.41, p = .031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Effect size is 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small–moderate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 (</a:t>
            </a:r>
            <a:r>
              <a:rPr lang="el-GR" b="0" i="0" u="none" strike="noStrike">
                <a:solidFill>
                  <a:srgbClr val="000000"/>
                </a:solidFill>
                <a:effectLst/>
              </a:rPr>
              <a:t>η² = 0.111), 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meaning creative matters but is not the only driver.</a:t>
            </a:r>
          </a:p>
          <a:p>
            <a:pPr algn="l"/>
            <a:r>
              <a:rPr lang="en-GB" b="1" i="0" u="none" strike="noStrike">
                <a:solidFill>
                  <a:srgbClr val="000000"/>
                </a:solidFill>
                <a:effectLst/>
              </a:rPr>
              <a:t>Slide 2 — Performance Pattern (Practical Insights)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>
                <a:solidFill>
                  <a:srgbClr val="000000"/>
                </a:solidFill>
                <a:effectLst/>
              </a:rPr>
              <a:t>Spot 7 is clearly the lowest-performing spot.</a:t>
            </a:r>
            <a:endParaRPr lang="en-GB" b="0" i="0" u="none" strike="noStrike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>
                <a:solidFill>
                  <a:srgbClr val="000000"/>
                </a:solidFill>
                <a:effectLst/>
              </a:rPr>
              <a:t>Spots 1 and 6 show the strongest Lift2 performance.</a:t>
            </a:r>
            <a:endParaRPr lang="en-GB" b="0" i="0" u="none" strike="noStrike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Other spots (2–5) fall in the middle range with no clear statistical separation.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Tukey tests show no significant pairwise differences, but means indicate a 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top group vs. bottom group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 pattern.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2A8BE-513D-776D-B804-8130BB0A28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120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C3E5A-9D90-CD65-3F74-2EBE83A7B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78C891-4B4A-3FBA-251C-C2524FC97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38702-C61C-93E9-0B3D-948808D9A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b="1" i="0" u="none" strike="noStrike">
                <a:solidFill>
                  <a:srgbClr val="000000"/>
                </a:solidFill>
                <a:effectLst/>
              </a:rPr>
              <a:t>Slide 1 — Overall Statistical Findings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Variances are equal across spots (</a:t>
            </a:r>
            <a:r>
              <a:rPr lang="en-GB" b="0" i="0" u="none" strike="noStrike" err="1">
                <a:solidFill>
                  <a:srgbClr val="000000"/>
                </a:solidFill>
                <a:effectLst/>
              </a:rPr>
              <a:t>Levene’s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 p = .462) → ANOVA assumptions met.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Lift2 differs significantly across the 7 creative spots (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F(6,116)=2.41, p = .031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Effect size is 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small–moderate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 (</a:t>
            </a:r>
            <a:r>
              <a:rPr lang="el-GR" b="0" i="0" u="none" strike="noStrike">
                <a:solidFill>
                  <a:srgbClr val="000000"/>
                </a:solidFill>
                <a:effectLst/>
              </a:rPr>
              <a:t>η² = 0.111), 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meaning creative matters but is not the only driver.</a:t>
            </a:r>
          </a:p>
          <a:p>
            <a:pPr algn="l"/>
            <a:r>
              <a:rPr lang="en-GB" b="1" i="0" u="none" strike="noStrike">
                <a:solidFill>
                  <a:srgbClr val="000000"/>
                </a:solidFill>
                <a:effectLst/>
              </a:rPr>
              <a:t>Slide 2 — Performance Pattern (Practical Insights)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>
                <a:solidFill>
                  <a:srgbClr val="000000"/>
                </a:solidFill>
                <a:effectLst/>
              </a:rPr>
              <a:t>Spot 7 is clearly the lowest-performing spot.</a:t>
            </a:r>
            <a:endParaRPr lang="en-GB" b="0" i="0" u="none" strike="noStrike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>
                <a:solidFill>
                  <a:srgbClr val="000000"/>
                </a:solidFill>
                <a:effectLst/>
              </a:rPr>
              <a:t>Spots 1 and 6 show the strongest Lift2 performance.</a:t>
            </a:r>
            <a:endParaRPr lang="en-GB" b="0" i="0" u="none" strike="noStrike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Other spots (2–5) fall in the middle range with no clear statistical separation.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>
                <a:solidFill>
                  <a:srgbClr val="000000"/>
                </a:solidFill>
                <a:effectLst/>
              </a:rPr>
              <a:t>Tukey tests show no significant pairwise differences, but means indicate a </a:t>
            </a:r>
            <a:r>
              <a:rPr lang="en-GB" b="1" i="0" u="none" strike="noStrike">
                <a:solidFill>
                  <a:srgbClr val="000000"/>
                </a:solidFill>
                <a:effectLst/>
              </a:rPr>
              <a:t>top group vs. bottom group</a:t>
            </a:r>
            <a:r>
              <a:rPr lang="en-GB" b="0" i="0" u="none" strike="noStrike">
                <a:solidFill>
                  <a:srgbClr val="000000"/>
                </a:solidFill>
                <a:effectLst/>
              </a:rPr>
              <a:t> pattern.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F02F5-8048-B142-D75D-F64120DD5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9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EE847-10C3-62B1-F018-92E973F1D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38F74-3420-83A9-D960-CB8CCC159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1DAD9-3891-5996-65D8-C67694AF2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F2931-DDB4-50BC-FC55-2CA880ACB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27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books/NBK557421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VaycayNation: Driving Website Traffic Through Second-Screen Analytics</a:t>
            </a:r>
            <a:endParaRPr lang="en-US" sz="4450"/>
          </a:p>
        </p:txBody>
      </p:sp>
      <p:sp>
        <p:nvSpPr>
          <p:cNvPr id="4" name="Text 1"/>
          <p:cNvSpPr/>
          <p:nvPr/>
        </p:nvSpPr>
        <p:spPr>
          <a:xfrm>
            <a:off x="62801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Analytics Case Study</a:t>
            </a:r>
            <a:endParaRPr lang="en-US" sz="175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ts val="2850"/>
              </a:lnSpc>
            </a:pPr>
            <a:r>
              <a:rPr lang="en-US" sz="1750">
                <a:latin typeface="Inter"/>
                <a:ea typeface="Inter"/>
              </a:rPr>
              <a:t>Haniyah Saleem </a:t>
            </a:r>
            <a:endParaRPr lang="en-US" sz="1750" dirty="0"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87621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VaycayNation: The Opportunity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584061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German Travel Start-Up Since 2016</a:t>
            </a:r>
            <a:endParaRPr lang="en-US" sz="2650"/>
          </a:p>
        </p:txBody>
      </p:sp>
      <p:sp>
        <p:nvSpPr>
          <p:cNvPr id="4" name="Text 2"/>
          <p:cNvSpPr/>
          <p:nvPr/>
        </p:nvSpPr>
        <p:spPr>
          <a:xfrm>
            <a:off x="793790" y="282047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Rapid growth challenged by visibility gap</a:t>
            </a:r>
            <a:endParaRPr lang="en-US" sz="1750"/>
          </a:p>
        </p:txBody>
      </p:sp>
      <p:sp>
        <p:nvSpPr>
          <p:cNvPr id="5" name="Text 3"/>
          <p:cNvSpPr/>
          <p:nvPr/>
        </p:nvSpPr>
        <p:spPr>
          <a:xfrm>
            <a:off x="793790" y="338744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10% brand awareness among customers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793790" y="382964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 consideration rate amongst aware customers</a:t>
            </a:r>
            <a:endParaRPr lang="en-US" sz="1750"/>
          </a:p>
        </p:txBody>
      </p:sp>
      <p:sp>
        <p:nvSpPr>
          <p:cNvPr id="7" name="Text 5"/>
          <p:cNvSpPr/>
          <p:nvPr/>
        </p:nvSpPr>
        <p:spPr>
          <a:xfrm>
            <a:off x="793790" y="427184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 advertising drives 40% of first-time visits</a:t>
            </a:r>
            <a:endParaRPr lang="en-US" sz="1750"/>
          </a:p>
        </p:txBody>
      </p:sp>
      <p:sp>
        <p:nvSpPr>
          <p:cNvPr id="8" name="Shape 6"/>
          <p:cNvSpPr/>
          <p:nvPr/>
        </p:nvSpPr>
        <p:spPr>
          <a:xfrm>
            <a:off x="793790" y="4889897"/>
            <a:ext cx="7604284" cy="963811"/>
          </a:xfrm>
          <a:prstGeom prst="roundRect">
            <a:avLst>
              <a:gd name="adj" fmla="val 3530"/>
            </a:avLst>
          </a:prstGeom>
          <a:solidFill>
            <a:srgbClr val="BAD8F7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233988"/>
            <a:ext cx="283488" cy="226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0906" y="5173385"/>
            <a:ext cx="66403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 bottleneck represents massive untapped potential</a:t>
            </a:r>
            <a:endParaRPr lang="en-US" sz="175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08021"/>
            <a:ext cx="75429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Change Was Essential</a:t>
            </a:r>
            <a:endParaRPr lang="en-US" sz="4450"/>
          </a:p>
        </p:txBody>
      </p:sp>
      <p:sp>
        <p:nvSpPr>
          <p:cNvPr id="4" name="Shape 1"/>
          <p:cNvSpPr/>
          <p:nvPr/>
        </p:nvSpPr>
        <p:spPr>
          <a:xfrm>
            <a:off x="793790" y="2356961"/>
            <a:ext cx="3664744" cy="2531745"/>
          </a:xfrm>
          <a:prstGeom prst="roundRect">
            <a:avLst>
              <a:gd name="adj" fmla="val 1344"/>
            </a:avLst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5" name="Text 2"/>
          <p:cNvSpPr/>
          <p:nvPr/>
        </p:nvSpPr>
        <p:spPr>
          <a:xfrm>
            <a:off x="1020604" y="2583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Strategy</a:t>
            </a:r>
            <a:endParaRPr lang="en-US" sz="2200"/>
          </a:p>
        </p:txBody>
      </p:sp>
      <p:sp>
        <p:nvSpPr>
          <p:cNvPr id="6" name="Text 3"/>
          <p:cNvSpPr/>
          <p:nvPr/>
        </p:nvSpPr>
        <p:spPr>
          <a:xfrm>
            <a:off x="1020604" y="3074194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Intuition-based TV campaigns</a:t>
            </a:r>
            <a:endParaRPr lang="en-US" sz="1750"/>
          </a:p>
        </p:txBody>
      </p:sp>
      <p:sp>
        <p:nvSpPr>
          <p:cNvPr id="7" name="Text 4"/>
          <p:cNvSpPr/>
          <p:nvPr/>
        </p:nvSpPr>
        <p:spPr>
          <a:xfrm>
            <a:off x="1020604" y="3936087"/>
            <a:ext cx="3211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Inconsistent, untested adverts</a:t>
            </a:r>
            <a:endParaRPr lang="en-US" sz="1750"/>
          </a:p>
        </p:txBody>
      </p:sp>
      <p:sp>
        <p:nvSpPr>
          <p:cNvPr id="8" name="Shape 5"/>
          <p:cNvSpPr/>
          <p:nvPr/>
        </p:nvSpPr>
        <p:spPr>
          <a:xfrm>
            <a:off x="4685348" y="2356961"/>
            <a:ext cx="3664863" cy="2531745"/>
          </a:xfrm>
          <a:prstGeom prst="roundRect">
            <a:avLst>
              <a:gd name="adj" fmla="val 1344"/>
            </a:avLst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9" name="Text 6"/>
          <p:cNvSpPr/>
          <p:nvPr/>
        </p:nvSpPr>
        <p:spPr>
          <a:xfrm>
            <a:off x="4912162" y="25837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</a:t>
            </a:r>
            <a:endParaRPr lang="en-US" sz="2200"/>
          </a:p>
        </p:txBody>
      </p:sp>
      <p:sp>
        <p:nvSpPr>
          <p:cNvPr id="10" name="Text 7"/>
          <p:cNvSpPr/>
          <p:nvPr/>
        </p:nvSpPr>
        <p:spPr>
          <a:xfrm>
            <a:off x="4912162" y="3074194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adverts produced zero measurable impact</a:t>
            </a:r>
            <a:endParaRPr lang="en-US" sz="1750"/>
          </a:p>
        </p:txBody>
      </p:sp>
      <p:sp>
        <p:nvSpPr>
          <p:cNvPr id="11" name="Text 8"/>
          <p:cNvSpPr/>
          <p:nvPr/>
        </p:nvSpPr>
        <p:spPr>
          <a:xfrm>
            <a:off x="4912162" y="3936087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CMO dismissed</a:t>
            </a:r>
            <a:endParaRPr lang="en-US" sz="1750"/>
          </a:p>
        </p:txBody>
      </p:sp>
      <p:sp>
        <p:nvSpPr>
          <p:cNvPr id="12" name="Shape 9"/>
          <p:cNvSpPr/>
          <p:nvPr/>
        </p:nvSpPr>
        <p:spPr>
          <a:xfrm>
            <a:off x="793790" y="5115520"/>
            <a:ext cx="7556421" cy="1805940"/>
          </a:xfrm>
          <a:prstGeom prst="roundRect">
            <a:avLst>
              <a:gd name="adj" fmla="val 1884"/>
            </a:avLst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3" name="Text 10"/>
          <p:cNvSpPr/>
          <p:nvPr/>
        </p:nvSpPr>
        <p:spPr>
          <a:xfrm>
            <a:off x="1020604" y="53423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 Approach</a:t>
            </a:r>
            <a:endParaRPr lang="en-US" sz="2200"/>
          </a:p>
        </p:txBody>
      </p:sp>
      <p:sp>
        <p:nvSpPr>
          <p:cNvPr id="14" name="Text 11"/>
          <p:cNvSpPr/>
          <p:nvPr/>
        </p:nvSpPr>
        <p:spPr>
          <a:xfrm>
            <a:off x="1020604" y="583275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"No data, no money!"</a:t>
            </a:r>
            <a:endParaRPr lang="en-US" sz="1750"/>
          </a:p>
        </p:txBody>
      </p:sp>
      <p:sp>
        <p:nvSpPr>
          <p:cNvPr id="15" name="Text 12"/>
          <p:cNvSpPr/>
          <p:nvPr/>
        </p:nvSpPr>
        <p:spPr>
          <a:xfrm>
            <a:off x="1020604" y="6331744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Analytics-driven decision making</a:t>
            </a:r>
            <a:endParaRPr lang="en-US" sz="1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112058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 &amp; Processing Workflow</a:t>
            </a:r>
            <a:endParaRPr lang="en-US" sz="44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740700"/>
            <a:ext cx="226814" cy="22681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022044"/>
            <a:ext cx="4196358" cy="304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196352"/>
            <a:ext cx="36485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 &amp; Validation</a:t>
            </a:r>
            <a:endParaRPr lang="en-US" sz="2200"/>
          </a:p>
        </p:txBody>
      </p:sp>
      <p:sp>
        <p:nvSpPr>
          <p:cNvPr id="6" name="Text 2"/>
          <p:cNvSpPr/>
          <p:nvPr/>
        </p:nvSpPr>
        <p:spPr>
          <a:xfrm>
            <a:off x="793790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Removed duplicates, standardised fields, verified lift calculations</a:t>
            </a:r>
            <a:endParaRPr lang="en-US" sz="175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6962" y="2740700"/>
            <a:ext cx="226814" cy="226814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962" y="3022044"/>
            <a:ext cx="4196358" cy="304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16962" y="3196352"/>
            <a:ext cx="28420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Transformation</a:t>
            </a:r>
            <a:endParaRPr lang="en-US" sz="2200"/>
          </a:p>
        </p:txBody>
      </p:sp>
      <p:sp>
        <p:nvSpPr>
          <p:cNvPr id="10" name="Text 4"/>
          <p:cNvSpPr/>
          <p:nvPr/>
        </p:nvSpPr>
        <p:spPr>
          <a:xfrm>
            <a:off x="5216962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date-time formats, extracted Day of Week</a:t>
            </a:r>
            <a:endParaRPr lang="en-US" sz="175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0133" y="2740700"/>
            <a:ext cx="226814" cy="226814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133" y="3022044"/>
            <a:ext cx="4196358" cy="3048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640133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2200"/>
          </a:p>
        </p:txBody>
      </p:sp>
      <p:sp>
        <p:nvSpPr>
          <p:cNvPr id="14" name="Text 6"/>
          <p:cNvSpPr/>
          <p:nvPr/>
        </p:nvSpPr>
        <p:spPr>
          <a:xfrm>
            <a:off x="9640133" y="3686770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Prime Time variable (20:00–22:00), encoded dummy variables</a:t>
            </a:r>
            <a:endParaRPr lang="en-US" sz="175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3790" y="4837748"/>
            <a:ext cx="226814" cy="226814"/>
          </a:xfrm>
          <a:prstGeom prst="rect">
            <a:avLst/>
          </a:prstGeom>
        </p:spPr>
      </p:pic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90" y="5141714"/>
            <a:ext cx="6407944" cy="3048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793790" y="5338763"/>
            <a:ext cx="3957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Structuring</a:t>
            </a:r>
            <a:endParaRPr lang="en-US" sz="2200"/>
          </a:p>
        </p:txBody>
      </p:sp>
      <p:sp>
        <p:nvSpPr>
          <p:cNvPr id="18" name="Text 8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pivot tables across genre, channel, day of week, creative spot</a:t>
            </a:r>
            <a:endParaRPr lang="en-US" sz="175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28548" y="4837748"/>
            <a:ext cx="226814" cy="226814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8548" y="5141714"/>
            <a:ext cx="6407944" cy="3048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7428548" y="5338763"/>
            <a:ext cx="40656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Analysis-Ready Dataset</a:t>
            </a:r>
            <a:endParaRPr lang="en-US" sz="2200"/>
          </a:p>
        </p:txBody>
      </p:sp>
      <p:sp>
        <p:nvSpPr>
          <p:cNvPr id="22" name="Text 10"/>
          <p:cNvSpPr/>
          <p:nvPr/>
        </p:nvSpPr>
        <p:spPr>
          <a:xfrm>
            <a:off x="7428548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Exported clean dataset ready for ANOVA and regression analysis</a:t>
            </a:r>
            <a:endParaRPr lang="en-US" sz="1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4000"/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9443" y="658535"/>
            <a:ext cx="7534037" cy="47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Dummy Variable Creation for Regression</a:t>
            </a:r>
            <a:endParaRPr lang="en-US" sz="2950"/>
          </a:p>
        </p:txBody>
      </p:sp>
      <p:sp>
        <p:nvSpPr>
          <p:cNvPr id="5" name="Shape 2"/>
          <p:cNvSpPr/>
          <p:nvPr/>
        </p:nvSpPr>
        <p:spPr>
          <a:xfrm>
            <a:off x="6019443" y="1542474"/>
            <a:ext cx="8077914" cy="1212294"/>
          </a:xfrm>
          <a:prstGeom prst="roundRect">
            <a:avLst>
              <a:gd name="adj" fmla="val 1885"/>
            </a:avLst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6" name="Text 3"/>
          <p:cNvSpPr/>
          <p:nvPr/>
        </p:nvSpPr>
        <p:spPr>
          <a:xfrm>
            <a:off x="6171724" y="1694755"/>
            <a:ext cx="2180034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Creative Spot Dummies</a:t>
            </a:r>
            <a:endParaRPr lang="en-US" sz="1450"/>
          </a:p>
        </p:txBody>
      </p:sp>
      <p:sp>
        <p:nvSpPr>
          <p:cNvPr id="7" name="Text 4"/>
          <p:cNvSpPr/>
          <p:nvPr/>
        </p:nvSpPr>
        <p:spPr>
          <a:xfrm>
            <a:off x="6171724" y="2023963"/>
            <a:ext cx="777335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dummy variables (SpotD_1 to SpotD_7)</a:t>
            </a:r>
            <a:endParaRPr lang="en-US" sz="1150"/>
          </a:p>
        </p:txBody>
      </p:sp>
      <p:sp>
        <p:nvSpPr>
          <p:cNvPr id="8" name="Text 5"/>
          <p:cNvSpPr/>
          <p:nvPr/>
        </p:nvSpPr>
        <p:spPr>
          <a:xfrm>
            <a:off x="6171724" y="2358886"/>
            <a:ext cx="777335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spot excluded as reference category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6019443" y="2907049"/>
            <a:ext cx="8077914" cy="1212294"/>
          </a:xfrm>
          <a:prstGeom prst="roundRect">
            <a:avLst>
              <a:gd name="adj" fmla="val 1885"/>
            </a:avLst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0" name="Text 7"/>
          <p:cNvSpPr/>
          <p:nvPr/>
        </p:nvSpPr>
        <p:spPr>
          <a:xfrm>
            <a:off x="6171724" y="3059330"/>
            <a:ext cx="190404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Dummies</a:t>
            </a:r>
            <a:endParaRPr lang="en-US" sz="1450"/>
          </a:p>
        </p:txBody>
      </p:sp>
      <p:sp>
        <p:nvSpPr>
          <p:cNvPr id="11" name="Text 8"/>
          <p:cNvSpPr/>
          <p:nvPr/>
        </p:nvSpPr>
        <p:spPr>
          <a:xfrm>
            <a:off x="6171724" y="3388538"/>
            <a:ext cx="777335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dummy variables (ChannelD_1 to ChannelD_4)</a:t>
            </a:r>
            <a:endParaRPr lang="en-US" sz="1150"/>
          </a:p>
        </p:txBody>
      </p:sp>
      <p:sp>
        <p:nvSpPr>
          <p:cNvPr id="12" name="Text 9"/>
          <p:cNvSpPr/>
          <p:nvPr/>
        </p:nvSpPr>
        <p:spPr>
          <a:xfrm>
            <a:off x="6171724" y="3723461"/>
            <a:ext cx="777335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Kabel1, RTL, VOX with base category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6019443" y="4271625"/>
            <a:ext cx="8077914" cy="1455896"/>
          </a:xfrm>
          <a:prstGeom prst="roundRect">
            <a:avLst>
              <a:gd name="adj" fmla="val 1569"/>
            </a:avLst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4" name="Text 11"/>
          <p:cNvSpPr/>
          <p:nvPr/>
        </p:nvSpPr>
        <p:spPr>
          <a:xfrm>
            <a:off x="6171724" y="4423906"/>
            <a:ext cx="190404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Genre Dummies</a:t>
            </a:r>
            <a:endParaRPr lang="en-US" sz="1450"/>
          </a:p>
        </p:txBody>
      </p:sp>
      <p:sp>
        <p:nvSpPr>
          <p:cNvPr id="15" name="Text 12"/>
          <p:cNvSpPr/>
          <p:nvPr/>
        </p:nvSpPr>
        <p:spPr>
          <a:xfrm>
            <a:off x="6171724" y="4753114"/>
            <a:ext cx="777335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dummy variables (GenreD_1 to GenreD_20)</a:t>
            </a:r>
            <a:endParaRPr lang="en-US" sz="1150"/>
          </a:p>
        </p:txBody>
      </p:sp>
      <p:sp>
        <p:nvSpPr>
          <p:cNvPr id="16" name="Text 13"/>
          <p:cNvSpPr/>
          <p:nvPr/>
        </p:nvSpPr>
        <p:spPr>
          <a:xfrm>
            <a:off x="6171724" y="5088036"/>
            <a:ext cx="7773352" cy="487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Adventure, Basketball, Cartoon, Documentary, Family, News, Politics, Romance, Thriller, Soap, Sitcom, Travel, etc.</a:t>
            </a:r>
            <a:endParaRPr lang="en-US" sz="1150"/>
          </a:p>
        </p:txBody>
      </p:sp>
      <p:sp>
        <p:nvSpPr>
          <p:cNvPr id="17" name="Shape 14"/>
          <p:cNvSpPr/>
          <p:nvPr/>
        </p:nvSpPr>
        <p:spPr>
          <a:xfrm>
            <a:off x="6019443" y="5879802"/>
            <a:ext cx="8077914" cy="1212294"/>
          </a:xfrm>
          <a:prstGeom prst="roundRect">
            <a:avLst>
              <a:gd name="adj" fmla="val 1885"/>
            </a:avLst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8" name="Text 15"/>
          <p:cNvSpPr/>
          <p:nvPr/>
        </p:nvSpPr>
        <p:spPr>
          <a:xfrm>
            <a:off x="6171724" y="6032083"/>
            <a:ext cx="1904047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of Week Coding</a:t>
            </a:r>
            <a:endParaRPr lang="en-US" sz="1450"/>
          </a:p>
        </p:txBody>
      </p:sp>
      <p:sp>
        <p:nvSpPr>
          <p:cNvPr id="19" name="Text 16"/>
          <p:cNvSpPr/>
          <p:nvPr/>
        </p:nvSpPr>
        <p:spPr>
          <a:xfrm>
            <a:off x="6171724" y="6361291"/>
            <a:ext cx="777335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 values: Fri=1, Mon=2, Sat=3, Sun=4, Thu=5, Tue=6, Wed=7</a:t>
            </a:r>
            <a:endParaRPr lang="en-US" sz="1150"/>
          </a:p>
        </p:txBody>
      </p:sp>
      <p:sp>
        <p:nvSpPr>
          <p:cNvPr id="20" name="Text 17"/>
          <p:cNvSpPr/>
          <p:nvPr/>
        </p:nvSpPr>
        <p:spPr>
          <a:xfrm>
            <a:off x="6171724" y="6696214"/>
            <a:ext cx="7773352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15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113836-427D-0352-6C51-1B290557AA62}"/>
              </a:ext>
            </a:extLst>
          </p:cNvPr>
          <p:cNvSpPr/>
          <p:nvPr/>
        </p:nvSpPr>
        <p:spPr>
          <a:xfrm>
            <a:off x="0" y="0"/>
            <a:ext cx="5513696" cy="8229600"/>
          </a:xfrm>
          <a:prstGeom prst="rect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en-P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99812-A48A-469F-8F62-2B8B26B7B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6E1F08-D656-43C6-4CCE-BD8203C3A691}"/>
              </a:ext>
            </a:extLst>
          </p:cNvPr>
          <p:cNvSpPr/>
          <p:nvPr/>
        </p:nvSpPr>
        <p:spPr>
          <a:xfrm>
            <a:off x="735925" y="578168"/>
            <a:ext cx="5746194" cy="55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Regression Analysis </a:t>
            </a:r>
            <a:endParaRPr lang="en-US" sz="35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E1C652-8190-5E52-D26F-7C157DB71F92}"/>
              </a:ext>
            </a:extLst>
          </p:cNvPr>
          <p:cNvSpPr/>
          <p:nvPr/>
        </p:nvSpPr>
        <p:spPr>
          <a:xfrm>
            <a:off x="428387" y="3104971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= .770, R² = .593, Adjusted R² = .466.  </a:t>
            </a:r>
            <a:endParaRPr lang="en-US" sz="16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B16F76-1B83-FDBF-6AEC-57AECEB16F7A}"/>
              </a:ext>
            </a:extLst>
          </p:cNvPr>
          <p:cNvSpPr/>
          <p:nvPr/>
        </p:nvSpPr>
        <p:spPr>
          <a:xfrm>
            <a:off x="428387" y="3453348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&lt; .001 → Model is statistically significant. </a:t>
            </a:r>
            <a:endParaRPr lang="en-US" sz="16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1D2AFF-8DC2-6BFA-082F-3F4599D8869A}"/>
              </a:ext>
            </a:extLst>
          </p:cNvPr>
          <p:cNvSpPr/>
          <p:nvPr/>
        </p:nvSpPr>
        <p:spPr>
          <a:xfrm>
            <a:off x="428387" y="3801725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explains ~59% of the variation in incremental visits.</a:t>
            </a:r>
            <a:endParaRPr lang="en-US" sz="16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4176CAF-0A39-6EC1-1548-15F1C3D3C1B0}"/>
              </a:ext>
            </a:extLst>
          </p:cNvPr>
          <p:cNvSpPr/>
          <p:nvPr/>
        </p:nvSpPr>
        <p:spPr>
          <a:xfrm>
            <a:off x="428387" y="4150102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250"/>
              </a:lnSpc>
              <a:buSzPct val="100000"/>
            </a:pPr>
            <a:endParaRPr lang="en-US" sz="16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1D4FAB4-295A-7EAF-C5A4-B39870115816}"/>
              </a:ext>
            </a:extLst>
          </p:cNvPr>
          <p:cNvSpPr/>
          <p:nvPr/>
        </p:nvSpPr>
        <p:spPr>
          <a:xfrm>
            <a:off x="735925" y="6975991"/>
            <a:ext cx="22860" cy="687824"/>
          </a:xfrm>
          <a:prstGeom prst="rect">
            <a:avLst/>
          </a:prstGeom>
          <a:solidFill>
            <a:srgbClr val="66A8EE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DDB3AE-BB15-9AB1-7EB6-895D798E7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119" y="1000567"/>
            <a:ext cx="7772400" cy="21044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486F18-A41B-EF1A-3B39-17309B8F9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2572" y="3247905"/>
            <a:ext cx="5406571" cy="262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2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D279A-E3A9-9AD8-DC68-FCE84EFF4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344D46-5184-5751-9813-A66550577A0F}"/>
              </a:ext>
            </a:extLst>
          </p:cNvPr>
          <p:cNvSpPr/>
          <p:nvPr/>
        </p:nvSpPr>
        <p:spPr>
          <a:xfrm>
            <a:off x="735925" y="578168"/>
            <a:ext cx="5746194" cy="55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Regression Analysis </a:t>
            </a:r>
            <a:endParaRPr lang="en-US" sz="35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20434A-848D-5CE6-EEAF-39F8FB5311A5}"/>
              </a:ext>
            </a:extLst>
          </p:cNvPr>
          <p:cNvSpPr/>
          <p:nvPr/>
        </p:nvSpPr>
        <p:spPr>
          <a:xfrm>
            <a:off x="518215" y="2834294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 Time (20–22h) → +50 visits, p = .022</a:t>
            </a:r>
            <a:endParaRPr lang="en-US" sz="16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CD2F962-C3B2-4E1C-457B-0228893D014F}"/>
              </a:ext>
            </a:extLst>
          </p:cNvPr>
          <p:cNvSpPr/>
          <p:nvPr/>
        </p:nvSpPr>
        <p:spPr>
          <a:xfrm>
            <a:off x="518215" y="3356843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1 → +38 visits, p = .049, Spot 6 → +46 visits, p = .050.</a:t>
            </a:r>
            <a:endParaRPr lang="en-US" sz="16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29E479-D7C3-3F1C-8AC9-6642EA841997}"/>
              </a:ext>
            </a:extLst>
          </p:cNvPr>
          <p:cNvSpPr/>
          <p:nvPr/>
        </p:nvSpPr>
        <p:spPr>
          <a:xfrm>
            <a:off x="518215" y="3864877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two creatives significantly outperform Spot 7 (weakest).</a:t>
            </a:r>
            <a:endParaRPr lang="en-US" sz="16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A3B5537-02F5-1F55-3DBE-C6E90B250C00}"/>
              </a:ext>
            </a:extLst>
          </p:cNvPr>
          <p:cNvSpPr/>
          <p:nvPr/>
        </p:nvSpPr>
        <p:spPr>
          <a:xfrm>
            <a:off x="518215" y="4387424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RTL → –76 visits, p = .002 - significantly reduces website visits.</a:t>
            </a:r>
            <a:endParaRPr lang="en-US" sz="16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01BF95A-59DC-1442-3AB0-2712B421E4C5}"/>
              </a:ext>
            </a:extLst>
          </p:cNvPr>
          <p:cNvSpPr/>
          <p:nvPr/>
        </p:nvSpPr>
        <p:spPr>
          <a:xfrm>
            <a:off x="518215" y="7121134"/>
            <a:ext cx="22860" cy="687824"/>
          </a:xfrm>
          <a:prstGeom prst="rect">
            <a:avLst/>
          </a:prstGeom>
          <a:solidFill>
            <a:srgbClr val="66A8EE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7A302E-2058-9BE1-E179-7857DA42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00" y="986630"/>
            <a:ext cx="6946993" cy="6328232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AD0E5B79-53BD-2485-BFD7-B3BC08EEF203}"/>
              </a:ext>
            </a:extLst>
          </p:cNvPr>
          <p:cNvSpPr/>
          <p:nvPr/>
        </p:nvSpPr>
        <p:spPr>
          <a:xfrm>
            <a:off x="518214" y="4915290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Romance programs → +185 visits, p = .003,</a:t>
            </a:r>
          </a:p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programs → +121 visits, p = .031. </a:t>
            </a:r>
            <a:endParaRPr lang="en-US" sz="165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DA4E0E6-BCC6-F9AB-6B2D-EE78D617F31E}"/>
              </a:ext>
            </a:extLst>
          </p:cNvPr>
          <p:cNvSpPr/>
          <p:nvPr/>
        </p:nvSpPr>
        <p:spPr>
          <a:xfrm>
            <a:off x="541075" y="5762591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genres strongly increase lift.</a:t>
            </a:r>
          </a:p>
        </p:txBody>
      </p:sp>
    </p:spTree>
    <p:extLst>
      <p:ext uri="{BB962C8B-B14F-4D97-AF65-F5344CB8AC3E}">
        <p14:creationId xmlns:p14="http://schemas.microsoft.com/office/powerpoint/2010/main" val="1168596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578168"/>
            <a:ext cx="5746194" cy="55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Regression Analysis </a:t>
            </a:r>
            <a:endParaRPr lang="en-US" sz="3500"/>
          </a:p>
        </p:txBody>
      </p:sp>
      <p:sp>
        <p:nvSpPr>
          <p:cNvPr id="5" name="Text 3"/>
          <p:cNvSpPr/>
          <p:nvPr/>
        </p:nvSpPr>
        <p:spPr>
          <a:xfrm>
            <a:off x="561757" y="3574525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= .672, R² = .452, Adjusted R² = .281.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561757" y="3922902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 = 2.65, p &lt; .001) → Model is statistically significant. </a:t>
            </a:r>
          </a:p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endParaRPr lang="en-US" sz="1650"/>
          </a:p>
        </p:txBody>
      </p:sp>
      <p:sp>
        <p:nvSpPr>
          <p:cNvPr id="7" name="Text 5"/>
          <p:cNvSpPr/>
          <p:nvPr/>
        </p:nvSpPr>
        <p:spPr>
          <a:xfrm>
            <a:off x="561757" y="4271279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explains ~45% of the variation in incremental visits.</a:t>
            </a:r>
            <a:endParaRPr lang="en-US" sz="1650"/>
          </a:p>
        </p:txBody>
      </p:sp>
      <p:sp>
        <p:nvSpPr>
          <p:cNvPr id="11" name="Shape 8"/>
          <p:cNvSpPr/>
          <p:nvPr/>
        </p:nvSpPr>
        <p:spPr>
          <a:xfrm>
            <a:off x="735925" y="6975991"/>
            <a:ext cx="22860" cy="687824"/>
          </a:xfrm>
          <a:prstGeom prst="rect">
            <a:avLst/>
          </a:prstGeom>
          <a:solidFill>
            <a:srgbClr val="66A8EE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9645B72-1E8C-8FE2-0DEF-1A433113F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846" y="1114737"/>
            <a:ext cx="8161673" cy="20635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39AE45-9CDE-45A1-76A2-B3EC716A1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206" y="3240762"/>
            <a:ext cx="5494234" cy="25737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C874-AFEB-9F1A-BE85-63B27434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82A32E-8240-14F3-4CED-517AAFFF207E}"/>
              </a:ext>
            </a:extLst>
          </p:cNvPr>
          <p:cNvSpPr/>
          <p:nvPr/>
        </p:nvSpPr>
        <p:spPr>
          <a:xfrm>
            <a:off x="735925" y="578168"/>
            <a:ext cx="5746194" cy="55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Regression Analysis </a:t>
            </a:r>
            <a:endParaRPr lang="en-US" sz="35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8EF43C9-90B6-35DE-76DA-3E59F88655D2}"/>
              </a:ext>
            </a:extLst>
          </p:cNvPr>
          <p:cNvSpPr/>
          <p:nvPr/>
        </p:nvSpPr>
        <p:spPr>
          <a:xfrm>
            <a:off x="518215" y="2834294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the spots significantly outperform Spot 7.</a:t>
            </a:r>
            <a:endParaRPr lang="en-US" sz="16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1D94CAB-5ADE-1642-D896-BC8619415BAB}"/>
              </a:ext>
            </a:extLst>
          </p:cNvPr>
          <p:cNvSpPr/>
          <p:nvPr/>
        </p:nvSpPr>
        <p:spPr>
          <a:xfrm>
            <a:off x="518215" y="3356843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has minimal impact on Lift20.</a:t>
            </a:r>
            <a:endParaRPr lang="en-US" sz="16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B6FC92-AF45-4A67-263A-605E53EB279F}"/>
              </a:ext>
            </a:extLst>
          </p:cNvPr>
          <p:cNvSpPr/>
          <p:nvPr/>
        </p:nvSpPr>
        <p:spPr>
          <a:xfrm>
            <a:off x="518215" y="3864877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 Time and Day of week – no effect.</a:t>
            </a:r>
            <a:endParaRPr lang="en-US" sz="16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3C47C45-BC71-8324-6D5A-40E80494FE3C}"/>
              </a:ext>
            </a:extLst>
          </p:cNvPr>
          <p:cNvSpPr/>
          <p:nvPr/>
        </p:nvSpPr>
        <p:spPr>
          <a:xfrm>
            <a:off x="518215" y="4387424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RTL underperforms, but not statistically reliable.</a:t>
            </a:r>
            <a:endParaRPr lang="en-US" sz="165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BD69EFB-589A-DF0D-B520-F34A6745F424}"/>
              </a:ext>
            </a:extLst>
          </p:cNvPr>
          <p:cNvSpPr/>
          <p:nvPr/>
        </p:nvSpPr>
        <p:spPr>
          <a:xfrm>
            <a:off x="518215" y="7121134"/>
            <a:ext cx="22860" cy="687824"/>
          </a:xfrm>
          <a:prstGeom prst="rect">
            <a:avLst/>
          </a:prstGeom>
          <a:solidFill>
            <a:srgbClr val="66A8EE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0DF9FB4-81F5-CEE3-56F9-FA5D75983CD2}"/>
              </a:ext>
            </a:extLst>
          </p:cNvPr>
          <p:cNvSpPr/>
          <p:nvPr/>
        </p:nvSpPr>
        <p:spPr>
          <a:xfrm>
            <a:off x="518214" y="4915290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content → +564 visits (p = .046).</a:t>
            </a:r>
            <a:endParaRPr lang="en-US" sz="165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778A4BF5-8BE0-8C63-4F9D-6F5E4DE772E8}"/>
              </a:ext>
            </a:extLst>
          </p:cNvPr>
          <p:cNvSpPr/>
          <p:nvPr/>
        </p:nvSpPr>
        <p:spPr>
          <a:xfrm>
            <a:off x="541075" y="5515853"/>
            <a:ext cx="6361271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Managers should not rely on Lift20 alone for optimization,</a:t>
            </a:r>
          </a:p>
          <a:p>
            <a:pPr marL="342900" indent="-342900">
              <a:lnSpc>
                <a:spcPts val="2250"/>
              </a:lnSpc>
              <a:buSzPct val="100000"/>
              <a:buFontTx/>
              <a:buChar char="•"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Lift2 is more stable and meaningful.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646B9C-D3D3-AAD1-42EC-8827463541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567" y="1136690"/>
            <a:ext cx="6946993" cy="628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921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85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</a:t>
            </a:r>
            <a:endParaRPr lang="en-US" sz="4450"/>
          </a:p>
        </p:txBody>
      </p:sp>
      <p:sp>
        <p:nvSpPr>
          <p:cNvPr id="3" name="Shape 1"/>
          <p:cNvSpPr/>
          <p:nvPr/>
        </p:nvSpPr>
        <p:spPr>
          <a:xfrm>
            <a:off x="793790" y="1870948"/>
            <a:ext cx="6407944" cy="2048351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30480">
            <a:solidFill>
              <a:srgbClr val="1957A9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4" name="Shape 2"/>
          <p:cNvSpPr/>
          <p:nvPr/>
        </p:nvSpPr>
        <p:spPr>
          <a:xfrm>
            <a:off x="824270" y="1901428"/>
            <a:ext cx="6346984" cy="680442"/>
          </a:xfrm>
          <a:prstGeom prst="rect">
            <a:avLst/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5" name="Text 3"/>
          <p:cNvSpPr/>
          <p:nvPr/>
        </p:nvSpPr>
        <p:spPr>
          <a:xfrm>
            <a:off x="3827621" y="202894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/>
          </a:p>
        </p:txBody>
      </p:sp>
      <p:sp>
        <p:nvSpPr>
          <p:cNvPr id="6" name="Text 4"/>
          <p:cNvSpPr/>
          <p:nvPr/>
        </p:nvSpPr>
        <p:spPr>
          <a:xfrm>
            <a:off x="1051084" y="2808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 Period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1051084" y="3299103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December 2017 – 25 January 2018</a:t>
            </a:r>
            <a:endParaRPr lang="en-US" sz="1750"/>
          </a:p>
        </p:txBody>
      </p:sp>
      <p:sp>
        <p:nvSpPr>
          <p:cNvPr id="8" name="Shape 6"/>
          <p:cNvSpPr/>
          <p:nvPr/>
        </p:nvSpPr>
        <p:spPr>
          <a:xfrm>
            <a:off x="7428548" y="1870948"/>
            <a:ext cx="6408063" cy="2048351"/>
          </a:xfrm>
          <a:prstGeom prst="roundRect">
            <a:avLst>
              <a:gd name="adj" fmla="val 1661"/>
            </a:avLst>
          </a:prstGeom>
          <a:solidFill>
            <a:srgbClr val="FFFFFF"/>
          </a:solidFill>
          <a:ln w="30480">
            <a:solidFill>
              <a:srgbClr val="1957A9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9" name="Shape 7"/>
          <p:cNvSpPr/>
          <p:nvPr/>
        </p:nvSpPr>
        <p:spPr>
          <a:xfrm>
            <a:off x="7459027" y="1901428"/>
            <a:ext cx="6347103" cy="680442"/>
          </a:xfrm>
          <a:prstGeom prst="rect">
            <a:avLst/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0" name="Text 8"/>
          <p:cNvSpPr/>
          <p:nvPr/>
        </p:nvSpPr>
        <p:spPr>
          <a:xfrm>
            <a:off x="10462498" y="202894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/>
          </a:p>
        </p:txBody>
      </p:sp>
      <p:sp>
        <p:nvSpPr>
          <p:cNvPr id="11" name="Text 9"/>
          <p:cNvSpPr/>
          <p:nvPr/>
        </p:nvSpPr>
        <p:spPr>
          <a:xfrm>
            <a:off x="7685842" y="2808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 Airings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7685842" y="329910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123 total broadcasts analysed</a:t>
            </a:r>
            <a:endParaRPr lang="en-US" sz="1750"/>
          </a:p>
        </p:txBody>
      </p:sp>
      <p:sp>
        <p:nvSpPr>
          <p:cNvPr id="13" name="Shape 11"/>
          <p:cNvSpPr/>
          <p:nvPr/>
        </p:nvSpPr>
        <p:spPr>
          <a:xfrm>
            <a:off x="793790" y="4146113"/>
            <a:ext cx="6407944" cy="3374946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30480">
            <a:solidFill>
              <a:srgbClr val="1957A9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4" name="Shape 12"/>
          <p:cNvSpPr/>
          <p:nvPr/>
        </p:nvSpPr>
        <p:spPr>
          <a:xfrm>
            <a:off x="824270" y="4176593"/>
            <a:ext cx="6346984" cy="680442"/>
          </a:xfrm>
          <a:prstGeom prst="rect">
            <a:avLst/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15" name="Text 13"/>
          <p:cNvSpPr/>
          <p:nvPr/>
        </p:nvSpPr>
        <p:spPr>
          <a:xfrm>
            <a:off x="3827621" y="430410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/>
          </a:p>
        </p:txBody>
      </p:sp>
      <p:sp>
        <p:nvSpPr>
          <p:cNvPr id="16" name="Text 14"/>
          <p:cNvSpPr/>
          <p:nvPr/>
        </p:nvSpPr>
        <p:spPr>
          <a:xfrm>
            <a:off x="1051084" y="50838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Creative Variants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1051084" y="5574268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different advert executions (Spot 1–7)</a:t>
            </a:r>
            <a:endParaRPr lang="en-US" sz="1750"/>
          </a:p>
        </p:txBody>
      </p:sp>
      <p:sp>
        <p:nvSpPr>
          <p:cNvPr id="18" name="Shape 16"/>
          <p:cNvSpPr/>
          <p:nvPr/>
        </p:nvSpPr>
        <p:spPr>
          <a:xfrm>
            <a:off x="7428548" y="4146113"/>
            <a:ext cx="6408063" cy="3374946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30480">
            <a:solidFill>
              <a:srgbClr val="1957A9"/>
            </a:solidFill>
            <a:prstDash val="solid"/>
          </a:ln>
        </p:spPr>
        <p:txBody>
          <a:bodyPr/>
          <a:lstStyle/>
          <a:p>
            <a:endParaRPr lang="en-PL"/>
          </a:p>
        </p:txBody>
      </p:sp>
      <p:sp>
        <p:nvSpPr>
          <p:cNvPr id="19" name="Shape 17"/>
          <p:cNvSpPr/>
          <p:nvPr/>
        </p:nvSpPr>
        <p:spPr>
          <a:xfrm>
            <a:off x="7459027" y="4176593"/>
            <a:ext cx="6347103" cy="680442"/>
          </a:xfrm>
          <a:prstGeom prst="rect">
            <a:avLst/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sp>
        <p:nvSpPr>
          <p:cNvPr id="20" name="Text 18"/>
          <p:cNvSpPr/>
          <p:nvPr/>
        </p:nvSpPr>
        <p:spPr>
          <a:xfrm>
            <a:off x="10462498" y="430410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/>
          </a:p>
        </p:txBody>
      </p:sp>
      <p:sp>
        <p:nvSpPr>
          <p:cNvPr id="21" name="Text 19"/>
          <p:cNvSpPr/>
          <p:nvPr/>
        </p:nvSpPr>
        <p:spPr>
          <a:xfrm>
            <a:off x="7685842" y="50838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Variables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7685842" y="5574268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placement</a:t>
            </a:r>
            <a:endParaRPr lang="en-US" sz="1750"/>
          </a:p>
        </p:txBody>
      </p:sp>
      <p:sp>
        <p:nvSpPr>
          <p:cNvPr id="23" name="Text 21"/>
          <p:cNvSpPr/>
          <p:nvPr/>
        </p:nvSpPr>
        <p:spPr>
          <a:xfrm>
            <a:off x="7685842" y="601646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 in commercial break</a:t>
            </a:r>
            <a:endParaRPr lang="en-US" sz="1750"/>
          </a:p>
        </p:txBody>
      </p:sp>
      <p:sp>
        <p:nvSpPr>
          <p:cNvPr id="24" name="Text 22"/>
          <p:cNvSpPr/>
          <p:nvPr/>
        </p:nvSpPr>
        <p:spPr>
          <a:xfrm>
            <a:off x="7685842" y="6458664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Programme genre</a:t>
            </a:r>
            <a:endParaRPr lang="en-US" sz="1750"/>
          </a:p>
        </p:txBody>
      </p:sp>
      <p:sp>
        <p:nvSpPr>
          <p:cNvPr id="25" name="Text 23"/>
          <p:cNvSpPr/>
          <p:nvPr/>
        </p:nvSpPr>
        <p:spPr>
          <a:xfrm>
            <a:off x="7685842" y="6900863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visits before/after</a:t>
            </a:r>
            <a:endParaRPr lang="en-US" sz="17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2888"/>
            <a:ext cx="14630400" cy="25517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56240"/>
            <a:ext cx="6682859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Measuring Incremental Lift</a:t>
            </a:r>
            <a:endParaRPr lang="en-US" sz="4000"/>
          </a:p>
        </p:txBody>
      </p:sp>
      <p:sp>
        <p:nvSpPr>
          <p:cNvPr id="4" name="Text 1"/>
          <p:cNvSpPr/>
          <p:nvPr/>
        </p:nvSpPr>
        <p:spPr>
          <a:xfrm>
            <a:off x="793790" y="3975735"/>
            <a:ext cx="3062168" cy="382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</a:t>
            </a:r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793790" y="4664631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b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Incremental lift = Visits (after) − Visits (before)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793790" y="542496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Primary Window</a:t>
            </a:r>
            <a:endParaRPr lang="en-US" sz="2000"/>
          </a:p>
        </p:txBody>
      </p:sp>
      <p:sp>
        <p:nvSpPr>
          <p:cNvPr id="7" name="Text 4"/>
          <p:cNvSpPr/>
          <p:nvPr/>
        </p:nvSpPr>
        <p:spPr>
          <a:xfrm>
            <a:off x="793790" y="5947886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2-minute measurement window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793790" y="6458307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approach for immediate impact</a:t>
            </a:r>
            <a:endParaRPr lang="en-US" sz="1600"/>
          </a:p>
        </p:txBody>
      </p:sp>
      <p:sp>
        <p:nvSpPr>
          <p:cNvPr id="9" name="Text 6"/>
          <p:cNvSpPr/>
          <p:nvPr/>
        </p:nvSpPr>
        <p:spPr>
          <a:xfrm>
            <a:off x="7571780" y="5424964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Robustness Check</a:t>
            </a:r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7571780" y="5947886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20-minute measurement window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7571780" y="6458307"/>
            <a:ext cx="627245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Captures sustained interest</a:t>
            </a:r>
            <a:endParaRPr lang="en-US" sz="1600"/>
          </a:p>
        </p:txBody>
      </p:sp>
      <p:sp>
        <p:nvSpPr>
          <p:cNvPr id="12" name="Text 9"/>
          <p:cNvSpPr/>
          <p:nvPr/>
        </p:nvSpPr>
        <p:spPr>
          <a:xfrm>
            <a:off x="793790" y="7198281"/>
            <a:ext cx="130428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isolates advert-caused traffic from natural variation</a:t>
            </a:r>
            <a:endParaRPr 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3432"/>
            <a:ext cx="57077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Overall Performance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793790" y="301918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68.7</a:t>
            </a:r>
            <a:endParaRPr lang="en-US" sz="5850"/>
          </a:p>
        </p:txBody>
      </p:sp>
      <p:sp>
        <p:nvSpPr>
          <p:cNvPr id="4" name="Text 2"/>
          <p:cNvSpPr/>
          <p:nvPr/>
        </p:nvSpPr>
        <p:spPr>
          <a:xfrm>
            <a:off x="1013817" y="4050983"/>
            <a:ext cx="37185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Average Incremental Visits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793790" y="454140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advert airing across all 123 broadcasts</a:t>
            </a:r>
            <a:endParaRPr lang="en-US" sz="1750"/>
          </a:p>
        </p:txBody>
      </p:sp>
      <p:sp>
        <p:nvSpPr>
          <p:cNvPr id="6" name="Text 4"/>
          <p:cNvSpPr/>
          <p:nvPr/>
        </p:nvSpPr>
        <p:spPr>
          <a:xfrm>
            <a:off x="5235893" y="301918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123</a:t>
            </a:r>
            <a:endParaRPr lang="en-US" sz="5850"/>
          </a:p>
        </p:txBody>
      </p:sp>
      <p:sp>
        <p:nvSpPr>
          <p:cNvPr id="7" name="Text 5"/>
          <p:cNvSpPr/>
          <p:nvPr/>
        </p:nvSpPr>
        <p:spPr>
          <a:xfrm>
            <a:off x="5897523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Airings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5235893" y="454140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Analysed across five-week period</a:t>
            </a:r>
            <a:endParaRPr lang="en-US" sz="1750"/>
          </a:p>
        </p:txBody>
      </p:sp>
      <p:sp>
        <p:nvSpPr>
          <p:cNvPr id="9" name="Text 7"/>
          <p:cNvSpPr/>
          <p:nvPr/>
        </p:nvSpPr>
        <p:spPr>
          <a:xfrm>
            <a:off x="9677995" y="301918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5850"/>
          </a:p>
        </p:txBody>
      </p:sp>
      <p:sp>
        <p:nvSpPr>
          <p:cNvPr id="10" name="Text 8"/>
          <p:cNvSpPr/>
          <p:nvPr/>
        </p:nvSpPr>
        <p:spPr>
          <a:xfrm>
            <a:off x="10339626" y="40509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Creative Variants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9677995" y="454140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advert executions tested</a:t>
            </a:r>
            <a:endParaRPr lang="en-US" sz="1750"/>
          </a:p>
        </p:txBody>
      </p:sp>
      <p:sp>
        <p:nvSpPr>
          <p:cNvPr id="12" name="Shape 10"/>
          <p:cNvSpPr/>
          <p:nvPr/>
        </p:nvSpPr>
        <p:spPr>
          <a:xfrm>
            <a:off x="793790" y="5522357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BAD8F7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866448"/>
            <a:ext cx="283488" cy="22681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0906" y="5805845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variation between spots reveals content quality matters enormously</a:t>
            </a:r>
            <a:endParaRPr lang="en-US" sz="17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1510"/>
            <a:ext cx="592216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of the week Ranking</a:t>
            </a:r>
            <a:endParaRPr lang="en-US" sz="3100"/>
          </a:p>
        </p:txBody>
      </p:sp>
      <p:sp>
        <p:nvSpPr>
          <p:cNvPr id="3" name="Text 1"/>
          <p:cNvSpPr/>
          <p:nvPr/>
        </p:nvSpPr>
        <p:spPr>
          <a:xfrm>
            <a:off x="793790" y="1211104"/>
            <a:ext cx="346507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Mean Incremental Lift by Day of Week</a:t>
            </a:r>
            <a:endParaRPr lang="en-US" sz="1850"/>
          </a:p>
        </p:txBody>
      </p:sp>
      <p:sp>
        <p:nvSpPr>
          <p:cNvPr id="5" name="Text 2"/>
          <p:cNvSpPr/>
          <p:nvPr/>
        </p:nvSpPr>
        <p:spPr>
          <a:xfrm>
            <a:off x="1470447" y="7181017"/>
            <a:ext cx="2401586" cy="16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>
                <a:solidFill>
                  <a:srgbClr val="66A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Lift2:</a:t>
            </a:r>
            <a:r>
              <a:rPr lang="en-US" sz="12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Saturday and Sunday followed by Wednesday. </a:t>
            </a:r>
            <a:endParaRPr lang="en-US" sz="125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FB9CC5A-C02C-885C-B4EF-87FC0032BB8E}"/>
              </a:ext>
            </a:extLst>
          </p:cNvPr>
          <p:cNvSpPr/>
          <p:nvPr/>
        </p:nvSpPr>
        <p:spPr>
          <a:xfrm>
            <a:off x="9381745" y="7181017"/>
            <a:ext cx="2401586" cy="16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>
                <a:solidFill>
                  <a:srgbClr val="66A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lift20:</a:t>
            </a:r>
            <a:r>
              <a:rPr lang="en-US" sz="12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Sat and Friday followed by Monday. </a:t>
            </a:r>
            <a:endParaRPr lang="en-US" sz="125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D9AE4973-7629-3216-88E3-3888D38E6E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3728299"/>
              </p:ext>
            </p:extLst>
          </p:nvPr>
        </p:nvGraphicFramePr>
        <p:xfrm>
          <a:off x="496918" y="2041841"/>
          <a:ext cx="6580443" cy="4304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47A2786-0B11-F0B1-97CD-971D7EE854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1150162"/>
              </p:ext>
            </p:extLst>
          </p:nvPr>
        </p:nvGraphicFramePr>
        <p:xfrm>
          <a:off x="7553040" y="2041842"/>
          <a:ext cx="6455568" cy="4304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975E-6E61-7849-4FF2-1085F709B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953C29-C5E3-48C0-3BB5-5C2D1FF8B849}"/>
              </a:ext>
            </a:extLst>
          </p:cNvPr>
          <p:cNvSpPr/>
          <p:nvPr/>
        </p:nvSpPr>
        <p:spPr>
          <a:xfrm>
            <a:off x="793790" y="651510"/>
            <a:ext cx="592216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 Ranking</a:t>
            </a:r>
            <a:endParaRPr lang="en-US" sz="31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BAA218-F314-87F1-C694-0037DEAC45D9}"/>
              </a:ext>
            </a:extLst>
          </p:cNvPr>
          <p:cNvSpPr/>
          <p:nvPr/>
        </p:nvSpPr>
        <p:spPr>
          <a:xfrm>
            <a:off x="793790" y="1211104"/>
            <a:ext cx="346507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i="0" u="none" strike="noStrike">
                <a:solidFill>
                  <a:srgbClr val="084D9B"/>
                </a:solidFill>
                <a:effectLst/>
                <a:latin typeface="Inter Bold"/>
              </a:rPr>
              <a:t>Mean Incremental Lift 2 and Lift20 by Spot</a:t>
            </a:r>
            <a:r>
              <a:rPr lang="en-US" sz="1800" b="0" i="0" u="none" strike="noStrike">
                <a:effectLst/>
                <a:latin typeface="Inter Bold"/>
              </a:rPr>
              <a:t>​</a:t>
            </a:r>
            <a:endParaRPr lang="en-US" sz="185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55A80D7-5751-CA9A-284D-BA343FBA7695}"/>
              </a:ext>
            </a:extLst>
          </p:cNvPr>
          <p:cNvSpPr/>
          <p:nvPr/>
        </p:nvSpPr>
        <p:spPr>
          <a:xfrm>
            <a:off x="1470447" y="7181017"/>
            <a:ext cx="2401586" cy="16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>
                <a:solidFill>
                  <a:srgbClr val="66A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Lift2:</a:t>
            </a:r>
            <a:r>
              <a:rPr lang="en-US" sz="14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Spot 6 outperforms.</a:t>
            </a:r>
          </a:p>
          <a:p>
            <a:pPr>
              <a:lnSpc>
                <a:spcPts val="2000"/>
              </a:lnSpc>
            </a:pPr>
            <a:r>
              <a:rPr lang="en-US" sz="140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</a:t>
            </a:r>
            <a:r>
              <a:rPr lang="en-US" sz="14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70.5​. </a:t>
            </a:r>
          </a:p>
          <a:p>
            <a:pPr>
              <a:lnSpc>
                <a:spcPts val="2000"/>
              </a:lnSpc>
            </a:pPr>
            <a:r>
              <a:rPr lang="en-US" sz="140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r>
              <a:rPr lang="en-US" sz="14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Spot 7 requires redesign or removal </a:t>
            </a:r>
            <a:endParaRPr lang="en-US" sz="140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843B622-93EB-2344-CADF-375A83799028}"/>
              </a:ext>
            </a:extLst>
          </p:cNvPr>
          <p:cNvSpPr/>
          <p:nvPr/>
        </p:nvSpPr>
        <p:spPr>
          <a:xfrm>
            <a:off x="9396259" y="7181017"/>
            <a:ext cx="2401586" cy="165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1400" b="1">
                <a:solidFill>
                  <a:srgbClr val="66A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lift20:</a:t>
            </a:r>
            <a:r>
              <a:rPr lang="en-US" sz="14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</a:t>
            </a:r>
            <a:r>
              <a:rPr lang="en-GB" sz="1400">
                <a:solidFill>
                  <a:srgbClr val="000000"/>
                </a:solidFill>
                <a:latin typeface="Inter" pitchFamily="34" charset="0"/>
                <a:ea typeface="Inter" pitchFamily="34" charset="-122"/>
              </a:rPr>
              <a:t>pot 5 outperforms (382.65).</a:t>
            </a:r>
          </a:p>
          <a:p>
            <a:pPr>
              <a:lnSpc>
                <a:spcPts val="2000"/>
              </a:lnSpc>
            </a:pPr>
            <a:r>
              <a:rPr lang="en-US" sz="1400">
                <a:solidFill>
                  <a:schemeClr val="accent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</a:t>
            </a:r>
            <a:r>
              <a:rPr lang="en-US" sz="14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289.82​</a:t>
            </a:r>
          </a:p>
          <a:p>
            <a:pPr>
              <a:lnSpc>
                <a:spcPts val="2000"/>
              </a:lnSpc>
            </a:pPr>
            <a:r>
              <a:rPr lang="en-US" sz="1400">
                <a:solidFill>
                  <a:srgbClr val="FF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r>
              <a:rPr lang="en-US" sz="14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: Spot 7​ requires redesign or removal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GB" sz="1400" b="0" i="0" u="none" strike="noStrike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4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 </a:t>
            </a:r>
            <a:endParaRPr lang="en-US" sz="140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487A517-70DC-6184-49D1-3D15E0CE375B}"/>
              </a:ext>
            </a:extLst>
          </p:cNvPr>
          <p:cNvGraphicFramePr>
            <a:graphicFrameLocks/>
          </p:cNvGraphicFramePr>
          <p:nvPr/>
        </p:nvGraphicFramePr>
        <p:xfrm>
          <a:off x="496918" y="2041841"/>
          <a:ext cx="6580443" cy="4304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6E7B967-A67F-364C-89AA-586C8545E6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562939"/>
              </p:ext>
            </p:extLst>
          </p:nvPr>
        </p:nvGraphicFramePr>
        <p:xfrm>
          <a:off x="793789" y="1883665"/>
          <a:ext cx="6283570" cy="4720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94868AF-533B-C60A-4C2B-9BF41622B0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7171188"/>
              </p:ext>
            </p:extLst>
          </p:nvPr>
        </p:nvGraphicFramePr>
        <p:xfrm>
          <a:off x="7553042" y="1883665"/>
          <a:ext cx="6283569" cy="4720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113232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00862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Drives Performance Variation?</a:t>
            </a:r>
            <a:endParaRPr lang="en-US" sz="4450"/>
          </a:p>
        </p:txBody>
      </p:sp>
      <p:sp>
        <p:nvSpPr>
          <p:cNvPr id="3" name="Text 1"/>
          <p:cNvSpPr/>
          <p:nvPr/>
        </p:nvSpPr>
        <p:spPr>
          <a:xfrm>
            <a:off x="1857256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 Quality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793790" y="3533418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Creative execution and messaging</a:t>
            </a:r>
            <a:endParaRPr lang="en-US" sz="175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2874" y="3586996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634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Selection</a:t>
            </a:r>
            <a:endParaRPr lang="en-US" sz="2200"/>
          </a:p>
        </p:txBody>
      </p:sp>
      <p:sp>
        <p:nvSpPr>
          <p:cNvPr id="8" name="Text 4"/>
          <p:cNvSpPr/>
          <p:nvPr/>
        </p:nvSpPr>
        <p:spPr>
          <a:xfrm>
            <a:off x="9937790" y="312467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 engagement levels</a:t>
            </a:r>
            <a:endParaRPr lang="en-US" sz="17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9169" y="3006566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4269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Timing</a:t>
            </a:r>
            <a:endParaRPr lang="en-US" sz="2200"/>
          </a:p>
        </p:txBody>
      </p:sp>
      <p:sp>
        <p:nvSpPr>
          <p:cNvPr id="12" name="Text 6"/>
          <p:cNvSpPr/>
          <p:nvPr/>
        </p:nvSpPr>
        <p:spPr>
          <a:xfrm>
            <a:off x="10051256" y="4759643"/>
            <a:ext cx="37853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of day and day of week</a:t>
            </a:r>
            <a:endParaRPr lang="en-US" sz="175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3117" y="4526161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37790" y="5904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Position</a:t>
            </a:r>
            <a:endParaRPr lang="en-US" sz="2200"/>
          </a:p>
        </p:txBody>
      </p:sp>
      <p:sp>
        <p:nvSpPr>
          <p:cNvPr id="16" name="Text 8"/>
          <p:cNvSpPr/>
          <p:nvPr/>
        </p:nvSpPr>
        <p:spPr>
          <a:xfrm>
            <a:off x="9937790" y="639472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Placement within commercial break</a:t>
            </a:r>
            <a:endParaRPr lang="en-US" sz="175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39169" y="6045756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857256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Programme Genre</a:t>
            </a:r>
            <a:endParaRPr lang="en-US" sz="2200"/>
          </a:p>
        </p:txBody>
      </p:sp>
      <p:sp>
        <p:nvSpPr>
          <p:cNvPr id="20" name="Text 10"/>
          <p:cNvSpPr/>
          <p:nvPr/>
        </p:nvSpPr>
        <p:spPr>
          <a:xfrm>
            <a:off x="793790" y="598598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and viewer mindset</a:t>
            </a:r>
            <a:endParaRPr lang="en-US" sz="175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52874" y="5465326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7238"/>
            <a:ext cx="665999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ANOVA Summary – Spot Lift2 </a:t>
            </a:r>
            <a:endParaRPr lang="en-US" sz="3300"/>
          </a:p>
        </p:txBody>
      </p:sp>
      <p:sp>
        <p:nvSpPr>
          <p:cNvPr id="7" name="Text 4"/>
          <p:cNvSpPr/>
          <p:nvPr/>
        </p:nvSpPr>
        <p:spPr>
          <a:xfrm>
            <a:off x="7938424" y="1714024"/>
            <a:ext cx="280999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Findings for Spot Analysis </a:t>
            </a:r>
            <a:endParaRPr lang="en-US" sz="14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424" y="2314575"/>
            <a:ext cx="85011" cy="850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3456" y="2224207"/>
            <a:ext cx="262842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ANOVA Sig = 0.031.</a:t>
            </a:r>
            <a:endParaRPr lang="en-US" sz="14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424" y="2920484"/>
            <a:ext cx="85011" cy="850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93456" y="2830116"/>
            <a:ext cx="224575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Statistically significant differences exist among the 7 spots.</a:t>
            </a:r>
            <a:endParaRPr lang="en-US" sz="140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424" y="3526393"/>
            <a:ext cx="85011" cy="8501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93456" y="3436025"/>
            <a:ext cx="324064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F(6,116) = 2.41, p = .031.</a:t>
            </a:r>
            <a:endParaRPr lang="en-US" sz="140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424" y="4132302"/>
            <a:ext cx="85011" cy="8501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193456" y="4041934"/>
            <a:ext cx="255877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 least one spot performs differently from the others.</a:t>
            </a:r>
            <a:endParaRPr lang="en-US" sz="140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424" y="4738211"/>
            <a:ext cx="85011" cy="8501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193456" y="4647843"/>
            <a:ext cx="366152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Eta² = 0.111 (≈ 11%) - Small-to-moderate effect size.</a:t>
            </a:r>
            <a:endParaRPr lang="en-US" sz="140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8424" y="5344120"/>
            <a:ext cx="85011" cy="8501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193456" y="5253752"/>
            <a:ext cx="224599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 7 forms its own low-performing group.</a:t>
            </a:r>
          </a:p>
          <a:p>
            <a:pPr>
              <a:lnSpc>
                <a:spcPts val="2050"/>
              </a:lnSpc>
            </a:pPr>
            <a:endParaRPr lang="en-US" sz="1400"/>
          </a:p>
        </p:txBody>
      </p:sp>
      <p:sp>
        <p:nvSpPr>
          <p:cNvPr id="20" name="Text 11"/>
          <p:cNvSpPr/>
          <p:nvPr/>
        </p:nvSpPr>
        <p:spPr>
          <a:xfrm>
            <a:off x="793790" y="720018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00" b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FINDING:</a:t>
            </a:r>
            <a:r>
              <a:rPr lang="en-US" sz="13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Spot performance varies, with Spots 1 and 6 highest and Spot 7 lowest.</a:t>
            </a:r>
          </a:p>
          <a:p>
            <a:pPr>
              <a:lnSpc>
                <a:spcPts val="2100"/>
              </a:lnSpc>
            </a:pPr>
            <a:endParaRPr lang="en-US" sz="1300">
              <a:solidFill>
                <a:srgbClr val="000000"/>
              </a:solidFill>
              <a:latin typeface="Inter" pitchFamily="34" charset="0"/>
              <a:ea typeface="Inter" pitchFamily="34" charset="-122"/>
            </a:endParaRPr>
          </a:p>
          <a:p>
            <a:pPr>
              <a:lnSpc>
                <a:spcPts val="2100"/>
              </a:lnSpc>
            </a:pPr>
            <a:r>
              <a:rPr lang="en-US" sz="1300"/>
              <a:t>NOTE: Statistical significance was defined as a p-value of less than 0.05 (</a:t>
            </a:r>
            <a:r>
              <a:rPr lang="en-US" sz="1300" i="1"/>
              <a:t>Infanger &amp; Schmidt, 2019; Shreffler &amp; Huecker, 2023).</a:t>
            </a:r>
          </a:p>
          <a:p>
            <a:pPr marL="0" indent="0" algn="l">
              <a:lnSpc>
                <a:spcPts val="2100"/>
              </a:lnSpc>
              <a:buNone/>
            </a:pPr>
            <a:endParaRPr lang="en-US" sz="13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9889B15-E330-3C53-96BD-19AEBCCE3B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869" y="1484627"/>
            <a:ext cx="4183979" cy="472136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91DD27C-8A60-40CD-3691-D6B74B4CC8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848" y="2224207"/>
            <a:ext cx="2371941" cy="3427046"/>
          </a:xfrm>
          <a:prstGeom prst="rect">
            <a:avLst/>
          </a:prstGeom>
        </p:spPr>
      </p:pic>
      <p:pic>
        <p:nvPicPr>
          <p:cNvPr id="24" name="Image 6" descr="preencoded.png">
            <a:extLst>
              <a:ext uri="{FF2B5EF4-FFF2-40B4-BE49-F238E27FC236}">
                <a16:creationId xmlns:a16="http://schemas.microsoft.com/office/drawing/2014/main" id="{48EE786D-B2E1-0965-9BC4-7B193A7A9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992" y="5892309"/>
            <a:ext cx="85011" cy="85011"/>
          </a:xfrm>
          <a:prstGeom prst="rect">
            <a:avLst/>
          </a:prstGeom>
        </p:spPr>
      </p:pic>
      <p:sp>
        <p:nvSpPr>
          <p:cNvPr id="25" name="Text 10">
            <a:extLst>
              <a:ext uri="{FF2B5EF4-FFF2-40B4-BE49-F238E27FC236}">
                <a16:creationId xmlns:a16="http://schemas.microsoft.com/office/drawing/2014/main" id="{D9EFCEBB-17EF-81F5-D128-B2B7DA6DF445}"/>
              </a:ext>
            </a:extLst>
          </p:cNvPr>
          <p:cNvSpPr/>
          <p:nvPr/>
        </p:nvSpPr>
        <p:spPr>
          <a:xfrm>
            <a:off x="8223024" y="5801941"/>
            <a:ext cx="224599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Spots 1 and 6 appear only in the high-performing subset. </a:t>
            </a:r>
          </a:p>
          <a:p>
            <a:pPr>
              <a:lnSpc>
                <a:spcPts val="2050"/>
              </a:lnSpc>
            </a:pPr>
            <a:endParaRPr 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112B-B76D-2E5A-52A6-5F971E0EB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F02633-19A2-B618-C645-2EC6B1A71E4C}"/>
              </a:ext>
            </a:extLst>
          </p:cNvPr>
          <p:cNvSpPr/>
          <p:nvPr/>
        </p:nvSpPr>
        <p:spPr>
          <a:xfrm>
            <a:off x="793790" y="757238"/>
            <a:ext cx="665999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ANOVA Summary – Spot Lift20 </a:t>
            </a:r>
            <a:endParaRPr lang="en-US" sz="33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5661EAC-AE8D-5E2B-C91B-3048288117E7}"/>
              </a:ext>
            </a:extLst>
          </p:cNvPr>
          <p:cNvSpPr/>
          <p:nvPr/>
        </p:nvSpPr>
        <p:spPr>
          <a:xfrm>
            <a:off x="6566603" y="1932390"/>
            <a:ext cx="280999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Findings for Spot Analysis </a:t>
            </a:r>
            <a:endParaRPr lang="en-US" sz="140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B6D23E6A-9F6C-5D32-CADA-225BB133B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03" y="2532941"/>
            <a:ext cx="85011" cy="8501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BF7875E7-E004-9F79-AEBD-6583B04F481F}"/>
              </a:ext>
            </a:extLst>
          </p:cNvPr>
          <p:cNvSpPr/>
          <p:nvPr/>
        </p:nvSpPr>
        <p:spPr>
          <a:xfrm>
            <a:off x="6821635" y="2442573"/>
            <a:ext cx="262842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Variances are equal across spots (Levene’s p &gt; .05). </a:t>
            </a:r>
            <a:endParaRPr lang="en-US" sz="140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1D680141-70A5-A4A3-0BF5-63086827A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03" y="3138850"/>
            <a:ext cx="85011" cy="85011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80245AAA-BB5C-4E52-4B06-C66E99288E80}"/>
              </a:ext>
            </a:extLst>
          </p:cNvPr>
          <p:cNvSpPr/>
          <p:nvPr/>
        </p:nvSpPr>
        <p:spPr>
          <a:xfrm>
            <a:off x="6821635" y="3048482"/>
            <a:ext cx="224575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ANOVA shows a significant spot effect on Lift20: F(6,116) = 2.60, p = .021.</a:t>
            </a:r>
            <a:endParaRPr lang="en-US" sz="140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AEEB984E-11F1-2571-A70D-36C26996A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03" y="3744759"/>
            <a:ext cx="85011" cy="85011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E10B51DA-44A0-09E7-4DDA-0B72956FCE02}"/>
              </a:ext>
            </a:extLst>
          </p:cNvPr>
          <p:cNvSpPr/>
          <p:nvPr/>
        </p:nvSpPr>
        <p:spPr>
          <a:xfrm>
            <a:off x="6821635" y="3654391"/>
            <a:ext cx="324064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 explains ~12% of Lift20 variance (</a:t>
            </a:r>
            <a:r>
              <a:rPr lang="el-GR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η² = .119)</a:t>
            </a: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</a:t>
            </a:r>
            <a:r>
              <a:rPr lang="el-GR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small-to-moderate effect.</a:t>
            </a:r>
            <a:endParaRPr lang="en-US" sz="140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A5EDDEA0-2B84-C1C8-1E16-A1A56B56D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03" y="4350668"/>
            <a:ext cx="85011" cy="85011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0DB5BFE6-D8CD-6E6A-5934-13C490F84B6A}"/>
              </a:ext>
            </a:extLst>
          </p:cNvPr>
          <p:cNvSpPr/>
          <p:nvPr/>
        </p:nvSpPr>
        <p:spPr>
          <a:xfrm>
            <a:off x="6821635" y="4260300"/>
            <a:ext cx="255877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Only one significant pairwise difference in post-hoc tests.</a:t>
            </a:r>
            <a:endParaRPr lang="en-US" sz="1400"/>
          </a:p>
        </p:txBody>
      </p:sp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98157744-5FEE-0A89-81D0-AFCA000C4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03" y="4956577"/>
            <a:ext cx="85011" cy="85011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9F36BA2D-1BA9-800A-AC9F-88556B8E3E5A}"/>
              </a:ext>
            </a:extLst>
          </p:cNvPr>
          <p:cNvSpPr/>
          <p:nvPr/>
        </p:nvSpPr>
        <p:spPr>
          <a:xfrm>
            <a:off x="6821635" y="4866209"/>
            <a:ext cx="366152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 5 produces significantly higher Lift20 than Spot 7 (~260 more visits; p = .036). </a:t>
            </a:r>
            <a:endParaRPr lang="en-US" sz="140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99C3F71B-DDC8-D449-0254-30C280D03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603" y="5562486"/>
            <a:ext cx="85011" cy="85011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AC502108-5DFE-2277-2C33-67AB5B4AD83F}"/>
              </a:ext>
            </a:extLst>
          </p:cNvPr>
          <p:cNvSpPr/>
          <p:nvPr/>
        </p:nvSpPr>
        <p:spPr>
          <a:xfrm>
            <a:off x="6821635" y="5472118"/>
            <a:ext cx="224599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All other spot comparisons are not significant.</a:t>
            </a:r>
          </a:p>
          <a:p>
            <a:pPr>
              <a:lnSpc>
                <a:spcPts val="2050"/>
              </a:lnSpc>
            </a:pPr>
            <a:endParaRPr lang="en-US" sz="140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B2ECB089-C302-A5C6-E4DE-7E6890D1C08A}"/>
              </a:ext>
            </a:extLst>
          </p:cNvPr>
          <p:cNvSpPr/>
          <p:nvPr/>
        </p:nvSpPr>
        <p:spPr>
          <a:xfrm>
            <a:off x="793790" y="720018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00" b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FINDING:</a:t>
            </a:r>
            <a:r>
              <a:rPr lang="en-US" sz="13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Spot 5 is the only identified high performer vs. Spot 7, which is the clear low performer in sustained lift.</a:t>
            </a:r>
            <a:endParaRPr lang="en-US" sz="1300"/>
          </a:p>
          <a:p>
            <a:pPr marL="0" indent="0" algn="l">
              <a:lnSpc>
                <a:spcPts val="2100"/>
              </a:lnSpc>
              <a:buNone/>
            </a:pPr>
            <a:endParaRPr lang="en-US" sz="13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B50EB-B2AE-9185-A204-4FA6C9809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81" y="1504996"/>
            <a:ext cx="4575632" cy="52196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5BC9E05-2D5C-8BBD-219B-0A6CF4BCED0A}"/>
              </a:ext>
            </a:extLst>
          </p:cNvPr>
          <p:cNvSpPr txBox="1"/>
          <p:nvPr/>
        </p:nvSpPr>
        <p:spPr>
          <a:xfrm>
            <a:off x="12192000" y="61791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5347155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DFB4E-59FC-B586-3420-4B796D799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DC38F7-85E3-2C90-8DF1-D62054D5C478}"/>
              </a:ext>
            </a:extLst>
          </p:cNvPr>
          <p:cNvSpPr/>
          <p:nvPr/>
        </p:nvSpPr>
        <p:spPr>
          <a:xfrm>
            <a:off x="793790" y="757238"/>
            <a:ext cx="665999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ANOVA Summary – Channel Lift2</a:t>
            </a:r>
            <a:endParaRPr lang="en-US" sz="33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F3B16B7-E02F-934A-EC85-5D86FB4D835A}"/>
              </a:ext>
            </a:extLst>
          </p:cNvPr>
          <p:cNvSpPr/>
          <p:nvPr/>
        </p:nvSpPr>
        <p:spPr>
          <a:xfrm>
            <a:off x="8463641" y="1714024"/>
            <a:ext cx="280999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Findings for Channel Analysis </a:t>
            </a:r>
            <a:endParaRPr lang="en-US" sz="140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77826C5-BCFC-C209-76D5-7C6D755A1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41" y="2314575"/>
            <a:ext cx="85011" cy="8501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90C9DC19-F2ED-DEF2-DCF3-2C8A56F18313}"/>
              </a:ext>
            </a:extLst>
          </p:cNvPr>
          <p:cNvSpPr/>
          <p:nvPr/>
        </p:nvSpPr>
        <p:spPr>
          <a:xfrm>
            <a:off x="8718673" y="2224207"/>
            <a:ext cx="262842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Variances are equal across channels (Levene’s p = .886) </a:t>
            </a:r>
            <a:endParaRPr lang="en-US" sz="140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B652C993-00C8-0A09-4738-BDF1DF125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41" y="2920484"/>
            <a:ext cx="85011" cy="85011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D3DAA10F-B00B-EDA9-8BEC-92C1441D2EEC}"/>
              </a:ext>
            </a:extLst>
          </p:cNvPr>
          <p:cNvSpPr/>
          <p:nvPr/>
        </p:nvSpPr>
        <p:spPr>
          <a:xfrm>
            <a:off x="8718673" y="2830116"/>
            <a:ext cx="224575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ANOVA effect: F(2,120) = 14.19, p &lt; .001.</a:t>
            </a:r>
            <a:endParaRPr lang="en-US" sz="140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3E7C068D-4DFD-2198-98D5-F39816A92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41" y="3526393"/>
            <a:ext cx="85011" cy="85011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EE8506EE-3A61-6F3D-8463-3DC0A82C1C69}"/>
              </a:ext>
            </a:extLst>
          </p:cNvPr>
          <p:cNvSpPr/>
          <p:nvPr/>
        </p:nvSpPr>
        <p:spPr>
          <a:xfrm>
            <a:off x="8718673" y="3436025"/>
            <a:ext cx="324064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has a higher and meaningful impact on Lift2</a:t>
            </a:r>
          </a:p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(</a:t>
            </a:r>
            <a:r>
              <a:rPr lang="el-GR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η² = .191 ≈ 19%).</a:t>
            </a:r>
            <a:endParaRPr lang="en-US" sz="140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D91B8B5D-F25B-8C40-5BD3-25B1DBFCA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41" y="4255134"/>
            <a:ext cx="85011" cy="85011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08973A98-25C0-244F-BC65-84F95CE849F2}"/>
              </a:ext>
            </a:extLst>
          </p:cNvPr>
          <p:cNvSpPr/>
          <p:nvPr/>
        </p:nvSpPr>
        <p:spPr>
          <a:xfrm>
            <a:off x="8718673" y="4164766"/>
            <a:ext cx="255877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VOX is the highest-performing channel</a:t>
            </a:r>
            <a:endParaRPr lang="en-US" sz="1400"/>
          </a:p>
        </p:txBody>
      </p:sp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3E870F37-8ADE-ED66-B8E2-57F9E0D6F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41" y="4861043"/>
            <a:ext cx="85011" cy="85011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A7F77434-E047-F765-4DB1-0E5158CA7C13}"/>
              </a:ext>
            </a:extLst>
          </p:cNvPr>
          <p:cNvSpPr/>
          <p:nvPr/>
        </p:nvSpPr>
        <p:spPr>
          <a:xfrm>
            <a:off x="8718673" y="4770675"/>
            <a:ext cx="366152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RTL is the lowest-performing channel.</a:t>
            </a:r>
            <a:endParaRPr lang="en-US" sz="140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9D7B3977-0E04-302F-629E-3C2E9858D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41" y="5466952"/>
            <a:ext cx="85011" cy="85011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BFA73EE9-0362-79D3-271A-F0C434919B68}"/>
              </a:ext>
            </a:extLst>
          </p:cNvPr>
          <p:cNvSpPr/>
          <p:nvPr/>
        </p:nvSpPr>
        <p:spPr>
          <a:xfrm>
            <a:off x="8718673" y="5376584"/>
            <a:ext cx="224599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Kabel1 performs moderately better. </a:t>
            </a:r>
            <a:endParaRPr lang="en-US" sz="140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3ED12A04-45C1-5543-536C-E08F9F16ABCE}"/>
              </a:ext>
            </a:extLst>
          </p:cNvPr>
          <p:cNvSpPr/>
          <p:nvPr/>
        </p:nvSpPr>
        <p:spPr>
          <a:xfrm>
            <a:off x="793790" y="720018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00" b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FINDING:</a:t>
            </a:r>
            <a:r>
              <a:rPr lang="en-US" sz="13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VOX delivers the highest Lift2, outperforming Kabel1 and RTL.</a:t>
            </a:r>
            <a:endParaRPr lang="en-US" sz="1300"/>
          </a:p>
          <a:p>
            <a:pPr marL="0" indent="0" algn="l">
              <a:lnSpc>
                <a:spcPts val="2100"/>
              </a:lnSpc>
              <a:buNone/>
            </a:pPr>
            <a:endParaRPr lang="en-US" sz="13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EEE80-A823-5299-05ED-4A8AF1D17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85" y="1339661"/>
            <a:ext cx="4078800" cy="44715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9AD739-D124-6E12-433E-E7EE086197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789" y="1609887"/>
            <a:ext cx="4078800" cy="400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69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4529-AB86-FCC5-E65D-75CB96234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3E7F4B-A446-0704-C2D9-25E26D6AAE9C}"/>
              </a:ext>
            </a:extLst>
          </p:cNvPr>
          <p:cNvSpPr/>
          <p:nvPr/>
        </p:nvSpPr>
        <p:spPr>
          <a:xfrm>
            <a:off x="793790" y="757238"/>
            <a:ext cx="665999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ANOVA Summary – Channel Lift20</a:t>
            </a:r>
            <a:endParaRPr lang="en-US" sz="33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5D06BB2-7903-DB18-6883-ADA308EA9FD3}"/>
              </a:ext>
            </a:extLst>
          </p:cNvPr>
          <p:cNvSpPr/>
          <p:nvPr/>
        </p:nvSpPr>
        <p:spPr>
          <a:xfrm>
            <a:off x="8982265" y="1714024"/>
            <a:ext cx="280999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Findings for Channel Analysis </a:t>
            </a:r>
            <a:endParaRPr lang="en-US" sz="140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09F8E723-24A4-9F73-EE73-CCF4D15F5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265" y="2314575"/>
            <a:ext cx="85011" cy="8501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0DC248C6-464B-ADEF-E546-A6F97AA273B5}"/>
              </a:ext>
            </a:extLst>
          </p:cNvPr>
          <p:cNvSpPr/>
          <p:nvPr/>
        </p:nvSpPr>
        <p:spPr>
          <a:xfrm>
            <a:off x="9237297" y="2224207"/>
            <a:ext cx="262842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Variances are equal across channels (Levene’s p &gt; .70).</a:t>
            </a:r>
            <a:endParaRPr lang="en-US" sz="140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5F6E86FE-2E3B-3F4D-54B0-FF1D16A41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265" y="2920484"/>
            <a:ext cx="85011" cy="85011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77AF1694-D808-E10F-DAC3-5E799459C6F1}"/>
              </a:ext>
            </a:extLst>
          </p:cNvPr>
          <p:cNvSpPr/>
          <p:nvPr/>
        </p:nvSpPr>
        <p:spPr>
          <a:xfrm>
            <a:off x="9237297" y="2830116"/>
            <a:ext cx="224575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ANOVA effect: F(2,120) = 16.88, p &lt; .001.</a:t>
            </a:r>
            <a:endParaRPr lang="en-US" sz="140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FE0FEA77-77D5-9440-5F30-9A028AE17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265" y="3526393"/>
            <a:ext cx="85011" cy="85011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2AC5E2F-D9CC-C32D-4D89-E4BB00249CFB}"/>
              </a:ext>
            </a:extLst>
          </p:cNvPr>
          <p:cNvSpPr/>
          <p:nvPr/>
        </p:nvSpPr>
        <p:spPr>
          <a:xfrm>
            <a:off x="9237297" y="3436025"/>
            <a:ext cx="324064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explains 22% of the variation in Lift20 (</a:t>
            </a:r>
            <a:r>
              <a:rPr lang="el-GR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η² = .22)</a:t>
            </a: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</a:t>
            </a:r>
          </a:p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moderate-to-large effect.</a:t>
            </a:r>
            <a:endParaRPr lang="en-US" sz="140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40897FE3-7C66-5F41-1845-5A35435B5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265" y="4255134"/>
            <a:ext cx="85011" cy="85011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3921462D-BA89-497F-83B5-11B201DF4E1A}"/>
              </a:ext>
            </a:extLst>
          </p:cNvPr>
          <p:cNvSpPr/>
          <p:nvPr/>
        </p:nvSpPr>
        <p:spPr>
          <a:xfrm>
            <a:off x="9237297" y="4164766"/>
            <a:ext cx="255877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placement influences sustained website lift.</a:t>
            </a:r>
            <a:endParaRPr lang="en-US" sz="1400"/>
          </a:p>
        </p:txBody>
      </p:sp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A77EBE92-6DEF-E369-ED16-9EC33086B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265" y="4861043"/>
            <a:ext cx="85011" cy="85011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3D99B7A6-3B3C-8DB6-2E70-F4B19C88D694}"/>
              </a:ext>
            </a:extLst>
          </p:cNvPr>
          <p:cNvSpPr/>
          <p:nvPr/>
        </p:nvSpPr>
        <p:spPr>
          <a:xfrm>
            <a:off x="9237297" y="4770675"/>
            <a:ext cx="366152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RTL is the lowest-performing channel.</a:t>
            </a:r>
            <a:endParaRPr lang="en-US" sz="140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645B9C88-2ACE-FE7A-EC03-676D60CA6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2265" y="5466952"/>
            <a:ext cx="85011" cy="85011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C1D5D1BF-0AA6-85B2-E69A-AF40026B4FD6}"/>
              </a:ext>
            </a:extLst>
          </p:cNvPr>
          <p:cNvSpPr/>
          <p:nvPr/>
        </p:nvSpPr>
        <p:spPr>
          <a:xfrm>
            <a:off x="9237297" y="5376584"/>
            <a:ext cx="224599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Kabel1 and VOX do not differ from each other.</a:t>
            </a:r>
            <a:endParaRPr lang="en-US" sz="140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38F496A4-5E6A-6D38-A496-7E8A1B9DAAD0}"/>
              </a:ext>
            </a:extLst>
          </p:cNvPr>
          <p:cNvSpPr/>
          <p:nvPr/>
        </p:nvSpPr>
        <p:spPr>
          <a:xfrm>
            <a:off x="793790" y="720018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00" b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FINDING:</a:t>
            </a:r>
            <a:r>
              <a:rPr lang="en-US" sz="13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RTL underperforms, while Kabel1 and VOX deliver strong, similar long-term lift.</a:t>
            </a:r>
            <a:endParaRPr lang="en-US" sz="1300"/>
          </a:p>
          <a:p>
            <a:pPr marL="0" indent="0" algn="l">
              <a:lnSpc>
                <a:spcPts val="2100"/>
              </a:lnSpc>
              <a:buNone/>
            </a:pPr>
            <a:endParaRPr lang="en-US" sz="13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05A519-6114-B702-E36C-F0FAEA06C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730" y="1587945"/>
            <a:ext cx="4078800" cy="44851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3A2C8A-3484-C71E-0336-23655E8C43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1751" y="3224568"/>
            <a:ext cx="4355266" cy="224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313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E9EE-CAC7-D2A7-2AF8-BA629F91C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5107F6-E4D8-69C2-4F21-A9D94B300027}"/>
              </a:ext>
            </a:extLst>
          </p:cNvPr>
          <p:cNvSpPr/>
          <p:nvPr/>
        </p:nvSpPr>
        <p:spPr>
          <a:xfrm>
            <a:off x="793790" y="757238"/>
            <a:ext cx="665999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ANOVA Summary – Genre Lift2 </a:t>
            </a:r>
            <a:endParaRPr lang="en-US" sz="33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688A343-353E-4BED-D4F9-A0945E9DCEB6}"/>
              </a:ext>
            </a:extLst>
          </p:cNvPr>
          <p:cNvSpPr/>
          <p:nvPr/>
        </p:nvSpPr>
        <p:spPr>
          <a:xfrm>
            <a:off x="6402831" y="1850504"/>
            <a:ext cx="280999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Findings for Genre Analysis </a:t>
            </a:r>
            <a:endParaRPr lang="en-US" sz="140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A0941233-E373-5034-9189-0F6AAC0B0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31" y="2451055"/>
            <a:ext cx="85011" cy="8501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5865C872-3B2E-209B-A229-56E6F4E6E629}"/>
              </a:ext>
            </a:extLst>
          </p:cNvPr>
          <p:cNvSpPr/>
          <p:nvPr/>
        </p:nvSpPr>
        <p:spPr>
          <a:xfrm>
            <a:off x="6657863" y="2360687"/>
            <a:ext cx="262842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ANOVA effect: F(19,103) = 5.34, p &lt; .001.</a:t>
            </a:r>
            <a:endParaRPr lang="en-US" sz="140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C10C5A68-4908-B4EA-69EA-A60BEF3AB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31" y="3056964"/>
            <a:ext cx="85011" cy="85011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92676D24-3D4E-4C6A-C2A2-42B7EB7E7901}"/>
              </a:ext>
            </a:extLst>
          </p:cNvPr>
          <p:cNvSpPr/>
          <p:nvPr/>
        </p:nvSpPr>
        <p:spPr>
          <a:xfrm>
            <a:off x="6657863" y="2966596"/>
            <a:ext cx="224575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Very large effect size: </a:t>
            </a:r>
            <a:r>
              <a:rPr lang="el-GR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η² = 0.496 (~50%).</a:t>
            </a:r>
            <a:endParaRPr lang="en-US" sz="140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3DE0D792-0E03-477E-52BE-40852CE8C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31" y="3662873"/>
            <a:ext cx="85011" cy="85011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EDFDEED3-2679-9055-A8E0-9A997EF764B5}"/>
              </a:ext>
            </a:extLst>
          </p:cNvPr>
          <p:cNvSpPr/>
          <p:nvPr/>
        </p:nvSpPr>
        <p:spPr>
          <a:xfrm>
            <a:off x="6657863" y="3572505"/>
            <a:ext cx="324064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Genre explains far more variance than channel (~19%) or creative (~11%).</a:t>
            </a:r>
            <a:endParaRPr lang="en-US" sz="140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C8A90A64-DD65-80C0-4153-9C856BB75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31" y="4268782"/>
            <a:ext cx="85011" cy="85011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AC635318-94A6-06B4-39D7-9E7077E3193B}"/>
              </a:ext>
            </a:extLst>
          </p:cNvPr>
          <p:cNvSpPr/>
          <p:nvPr/>
        </p:nvSpPr>
        <p:spPr>
          <a:xfrm>
            <a:off x="6657863" y="4178414"/>
            <a:ext cx="255877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Post-hoc tests were not performed because at least one genre group</a:t>
            </a:r>
          </a:p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had fewer than 2 cases.</a:t>
            </a:r>
            <a:endParaRPr lang="en-US" sz="1400"/>
          </a:p>
        </p:txBody>
      </p:sp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2A2CB166-4AB9-E533-4DE9-012F75B9F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31" y="5093059"/>
            <a:ext cx="85011" cy="85011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3DCE565A-CE80-7DB6-AB0B-D076274FC3BC}"/>
              </a:ext>
            </a:extLst>
          </p:cNvPr>
          <p:cNvSpPr/>
          <p:nvPr/>
        </p:nvSpPr>
        <p:spPr>
          <a:xfrm>
            <a:off x="6657863" y="5002691"/>
            <a:ext cx="366152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Genre accounts for half of all lift variation, indicating that context of programming</a:t>
            </a:r>
          </a:p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strongly influences response.</a:t>
            </a:r>
            <a:endParaRPr lang="en-US" sz="140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CC1AE0C3-111E-9694-FA4F-017BCF4C3216}"/>
              </a:ext>
            </a:extLst>
          </p:cNvPr>
          <p:cNvSpPr/>
          <p:nvPr/>
        </p:nvSpPr>
        <p:spPr>
          <a:xfrm>
            <a:off x="793790" y="720018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00" b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FINDING:</a:t>
            </a:r>
            <a:r>
              <a:rPr lang="en-US" sz="13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Genre drives the largest differences in Lift2 across all factors analyzed.</a:t>
            </a:r>
            <a:endParaRPr lang="en-US" sz="13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A16AC9-0182-FC52-24CE-D5F6024A4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26" y="1473009"/>
            <a:ext cx="4668726" cy="554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6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72E8-318D-B0FC-74CE-425C402CC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40D9A9B-4DA1-4E87-1142-7425554D533F}"/>
              </a:ext>
            </a:extLst>
          </p:cNvPr>
          <p:cNvSpPr/>
          <p:nvPr/>
        </p:nvSpPr>
        <p:spPr>
          <a:xfrm>
            <a:off x="793790" y="757238"/>
            <a:ext cx="665999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ANOVA Summary – Genre Lift20 </a:t>
            </a:r>
            <a:endParaRPr lang="en-US" sz="33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2E0E346-16C1-C9F2-0535-CA9B8BC07718}"/>
              </a:ext>
            </a:extLst>
          </p:cNvPr>
          <p:cNvSpPr/>
          <p:nvPr/>
        </p:nvSpPr>
        <p:spPr>
          <a:xfrm>
            <a:off x="6402831" y="1850504"/>
            <a:ext cx="2809994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4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Findings for Genre Analysis </a:t>
            </a:r>
            <a:endParaRPr lang="en-US" sz="140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DDFC99C9-20EF-EC47-4374-5C0AADF82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31" y="2451055"/>
            <a:ext cx="85011" cy="8501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2012917-CBCA-FC63-9522-08A8E03FFD64}"/>
              </a:ext>
            </a:extLst>
          </p:cNvPr>
          <p:cNvSpPr/>
          <p:nvPr/>
        </p:nvSpPr>
        <p:spPr>
          <a:xfrm>
            <a:off x="6657863" y="2360687"/>
            <a:ext cx="262842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 ANOVA effect: Lift20: F(19,103) = 3.40, p &lt; .001.</a:t>
            </a:r>
            <a:endParaRPr lang="en-US" sz="140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B1964A01-090C-9AB4-B2C2-E7AD989AC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31" y="3056964"/>
            <a:ext cx="85011" cy="85011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C91E2CE1-D6B6-3314-13F0-53F0FD4E845C}"/>
              </a:ext>
            </a:extLst>
          </p:cNvPr>
          <p:cNvSpPr/>
          <p:nvPr/>
        </p:nvSpPr>
        <p:spPr>
          <a:xfrm>
            <a:off x="6657863" y="2966596"/>
            <a:ext cx="224575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Genre explains ~39% of the variance in Lift20 (</a:t>
            </a:r>
            <a:r>
              <a:rPr lang="el-GR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η² = .386)</a:t>
            </a: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</a:t>
            </a:r>
            <a:r>
              <a:rPr lang="el-GR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 large effect</a:t>
            </a:r>
            <a:r>
              <a:rPr lang="el-GR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</a:t>
            </a:r>
            <a:endParaRPr lang="en-US" sz="140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DE32ABA5-DD3C-1F77-A589-D31169163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31" y="3662873"/>
            <a:ext cx="85011" cy="85011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2986C953-C383-D590-729D-3CDDF300D104}"/>
              </a:ext>
            </a:extLst>
          </p:cNvPr>
          <p:cNvSpPr/>
          <p:nvPr/>
        </p:nvSpPr>
        <p:spPr>
          <a:xfrm>
            <a:off x="6657863" y="3572505"/>
            <a:ext cx="324064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Genre remains a powerful contextual factor shaping 20-minute sustained website lift.</a:t>
            </a:r>
            <a:endParaRPr lang="en-US" sz="1400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7E98689B-ABA8-173C-BAF7-288F6FB0D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31" y="4268782"/>
            <a:ext cx="85011" cy="85011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3376CCBD-8715-CF73-DD06-83B4CC1B6F3B}"/>
              </a:ext>
            </a:extLst>
          </p:cNvPr>
          <p:cNvSpPr/>
          <p:nvPr/>
        </p:nvSpPr>
        <p:spPr>
          <a:xfrm>
            <a:off x="6657863" y="4178414"/>
            <a:ext cx="255877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Post-hoc tests were not performed because at least one genre group</a:t>
            </a:r>
          </a:p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had fewer than 2 cases.</a:t>
            </a:r>
            <a:endParaRPr lang="en-US" sz="1400"/>
          </a:p>
        </p:txBody>
      </p:sp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3428E530-4D4C-F3B3-BEFB-81CF7662C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831" y="5093059"/>
            <a:ext cx="85011" cy="85011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8DD1216F-F3D1-DE95-0118-E864755ABCE7}"/>
              </a:ext>
            </a:extLst>
          </p:cNvPr>
          <p:cNvSpPr/>
          <p:nvPr/>
        </p:nvSpPr>
        <p:spPr>
          <a:xfrm>
            <a:off x="6657863" y="5002691"/>
            <a:ext cx="3661529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Genre is one of the strongest long-term drivers, exceeding the influence</a:t>
            </a:r>
          </a:p>
          <a:p>
            <a:pPr>
              <a:lnSpc>
                <a:spcPts val="2050"/>
              </a:lnSpc>
            </a:pPr>
            <a:r>
              <a:rPr lang="en-US" sz="14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of individual spots and channels.</a:t>
            </a:r>
            <a:endParaRPr lang="en-US" sz="140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F1B22BEB-78AC-1397-DEF1-A7F0B3EAF9AA}"/>
              </a:ext>
            </a:extLst>
          </p:cNvPr>
          <p:cNvSpPr/>
          <p:nvPr/>
        </p:nvSpPr>
        <p:spPr>
          <a:xfrm>
            <a:off x="793790" y="7200186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00"/>
              </a:lnSpc>
            </a:pPr>
            <a:r>
              <a:rPr lang="en-US" sz="1300" b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FINDING:</a:t>
            </a:r>
            <a:r>
              <a:rPr lang="en-US" sz="13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Genre has a strong impact on Lift20, explaining nearly 40% of sustained website lift differences across programs.</a:t>
            </a:r>
            <a:endParaRPr lang="en-US" sz="13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0B1FB1-C5F3-C107-81E6-E9BCBDB9AD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83"/>
          <a:stretch/>
        </p:blipFill>
        <p:spPr>
          <a:xfrm>
            <a:off x="1165051" y="1379824"/>
            <a:ext cx="4530466" cy="559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6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6152"/>
            <a:ext cx="59799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ANOVA Insights</a:t>
            </a:r>
            <a:endParaRPr lang="en-US" sz="40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692354"/>
            <a:ext cx="1020723" cy="1625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8586" y="1896428"/>
            <a:ext cx="388727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Genre is the strongest driver of website lift</a:t>
            </a:r>
            <a:endParaRPr lang="en-US" sz="2000"/>
          </a:p>
        </p:txBody>
      </p:sp>
      <p:sp>
        <p:nvSpPr>
          <p:cNvPr id="5" name="Text 2"/>
          <p:cNvSpPr/>
          <p:nvPr/>
        </p:nvSpPr>
        <p:spPr>
          <a:xfrm>
            <a:off x="2018586" y="2337673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Genre explains ~50% of Lift2 and ~39% of Lift20 → by far the largest effect.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2018586" y="2786777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 context of the program matters more than the ad creative or channel.</a:t>
            </a:r>
            <a:endParaRPr lang="en-US" sz="16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317558"/>
            <a:ext cx="1020723" cy="16252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18586" y="3521631"/>
            <a:ext cx="474214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Channel has a meaningful, medium-size impact</a:t>
            </a:r>
            <a:endParaRPr lang="en-US" sz="2000"/>
          </a:p>
        </p:txBody>
      </p:sp>
      <p:sp>
        <p:nvSpPr>
          <p:cNvPr id="9" name="Text 5"/>
          <p:cNvSpPr/>
          <p:nvPr/>
        </p:nvSpPr>
        <p:spPr>
          <a:xfrm>
            <a:off x="2018586" y="3962876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VOX performs highest for Lift2; RTL performs lowest across both Lift2 and Lift20. </a:t>
            </a:r>
            <a:endParaRPr lang="en-US" sz="1600"/>
          </a:p>
        </p:txBody>
      </p:sp>
      <p:sp>
        <p:nvSpPr>
          <p:cNvPr id="10" name="Text 6"/>
          <p:cNvSpPr/>
          <p:nvPr/>
        </p:nvSpPr>
        <p:spPr>
          <a:xfrm>
            <a:off x="2018586" y="4411980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Lift20, Kabel1 and VOX perform similarly and both outperform RTL substantially.</a:t>
            </a:r>
            <a:endParaRPr lang="en-US" sz="160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42761"/>
            <a:ext cx="1020723" cy="162520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18586" y="5146834"/>
            <a:ext cx="432411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Creative spot matters, but much less</a:t>
            </a:r>
            <a:endParaRPr lang="en-US" sz="2000"/>
          </a:p>
        </p:txBody>
      </p:sp>
      <p:sp>
        <p:nvSpPr>
          <p:cNvPr id="13" name="Text 8"/>
          <p:cNvSpPr/>
          <p:nvPr/>
        </p:nvSpPr>
        <p:spPr>
          <a:xfrm>
            <a:off x="2018586" y="5588079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Lift2: Spot 1 &amp; 6 highest; Spot 7 lowest.</a:t>
            </a:r>
            <a:endParaRPr lang="en-US" sz="1600"/>
          </a:p>
        </p:txBody>
      </p:sp>
      <p:sp>
        <p:nvSpPr>
          <p:cNvPr id="14" name="Text 9"/>
          <p:cNvSpPr/>
          <p:nvPr/>
        </p:nvSpPr>
        <p:spPr>
          <a:xfrm>
            <a:off x="2018586" y="6037183"/>
            <a:ext cx="11818025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Lift20: Only significant difference is Spot 5 &gt; Spot 7; all others behave similarly.</a:t>
            </a:r>
            <a:endParaRPr lang="en-US" sz="1600"/>
          </a:p>
        </p:txBody>
      </p:sp>
      <p:sp>
        <p:nvSpPr>
          <p:cNvPr id="15" name="Text 10"/>
          <p:cNvSpPr/>
          <p:nvPr/>
        </p:nvSpPr>
        <p:spPr>
          <a:xfrm>
            <a:off x="1099899" y="7027069"/>
            <a:ext cx="1273671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 genre is the biggest driver of website lift, channel matters strongly, </a:t>
            </a:r>
          </a:p>
          <a:p>
            <a:pPr>
              <a:lnSpc>
                <a:spcPts val="2550"/>
              </a:lnSpc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creative spot has a smaller but still measurable impact—RTL underperforms while VOX and Spot 5/1/6 deliver stronger results.</a:t>
            </a:r>
            <a:endParaRPr lang="en-US" sz="1600"/>
          </a:p>
        </p:txBody>
      </p:sp>
      <p:sp>
        <p:nvSpPr>
          <p:cNvPr id="16" name="Shape 11"/>
          <p:cNvSpPr/>
          <p:nvPr/>
        </p:nvSpPr>
        <p:spPr>
          <a:xfrm>
            <a:off x="793790" y="6797516"/>
            <a:ext cx="22860" cy="785813"/>
          </a:xfrm>
          <a:prstGeom prst="rect">
            <a:avLst/>
          </a:prstGeom>
          <a:solidFill>
            <a:srgbClr val="66A8EE"/>
          </a:solidFill>
          <a:ln/>
        </p:spPr>
        <p:txBody>
          <a:bodyPr/>
          <a:lstStyle/>
          <a:p>
            <a:endParaRPr lang="en-PL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5966222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Managerial Implications</a:t>
            </a:r>
            <a:endParaRPr lang="en-US" sz="4000"/>
          </a:p>
        </p:txBody>
      </p:sp>
      <p:sp>
        <p:nvSpPr>
          <p:cNvPr id="3" name="Shape 1"/>
          <p:cNvSpPr/>
          <p:nvPr/>
        </p:nvSpPr>
        <p:spPr>
          <a:xfrm>
            <a:off x="880876" y="2076369"/>
            <a:ext cx="6419374" cy="2319218"/>
          </a:xfrm>
          <a:prstGeom prst="roundRect">
            <a:avLst>
              <a:gd name="adj" fmla="val 1320"/>
            </a:avLst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49" y="2164330"/>
            <a:ext cx="612338" cy="61233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3303" y="2448796"/>
            <a:ext cx="275511" cy="2755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84949" y="2908171"/>
            <a:ext cx="2797135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Which Spot Performs Best?</a:t>
            </a:r>
            <a:endParaRPr lang="en-US" sz="2000"/>
          </a:p>
        </p:txBody>
      </p:sp>
      <p:sp>
        <p:nvSpPr>
          <p:cNvPr id="7" name="Text 3"/>
          <p:cNvSpPr/>
          <p:nvPr/>
        </p:nvSpPr>
        <p:spPr>
          <a:xfrm>
            <a:off x="1084949" y="3320389"/>
            <a:ext cx="60112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6 is the strongest performer. </a:t>
            </a:r>
          </a:p>
          <a:p>
            <a:pPr>
              <a:lnSpc>
                <a:spcPts val="2550"/>
              </a:lnSpc>
            </a:pPr>
            <a:r>
              <a:rPr lang="en-US" sz="16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1 also performs well. </a:t>
            </a:r>
          </a:p>
          <a:p>
            <a:pPr>
              <a:lnSpc>
                <a:spcPts val="2550"/>
              </a:lnSpc>
            </a:pPr>
            <a:r>
              <a:rPr lang="en-US" sz="16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7 is the weakest. </a:t>
            </a:r>
          </a:p>
          <a:p>
            <a:pPr>
              <a:lnSpc>
                <a:spcPts val="2550"/>
              </a:lnSpc>
            </a:pPr>
            <a:endParaRPr lang="en-US" sz="160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ts val="2550"/>
              </a:lnSpc>
            </a:pPr>
            <a:endParaRPr lang="en-US" sz="1600"/>
          </a:p>
        </p:txBody>
      </p:sp>
      <p:sp>
        <p:nvSpPr>
          <p:cNvPr id="8" name="Shape 4"/>
          <p:cNvSpPr/>
          <p:nvPr/>
        </p:nvSpPr>
        <p:spPr>
          <a:xfrm>
            <a:off x="7504323" y="2076369"/>
            <a:ext cx="6419374" cy="2319218"/>
          </a:xfrm>
          <a:prstGeom prst="roundRect">
            <a:avLst>
              <a:gd name="adj" fmla="val 1320"/>
            </a:avLst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6" y="2149816"/>
            <a:ext cx="612338" cy="61233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76750" y="2448796"/>
            <a:ext cx="275511" cy="27551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08396" y="287914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Creative vs. Placement &amp; Timing</a:t>
            </a:r>
            <a:endParaRPr lang="en-US" sz="2000"/>
          </a:p>
        </p:txBody>
      </p:sp>
      <p:sp>
        <p:nvSpPr>
          <p:cNvPr id="12" name="Text 6"/>
          <p:cNvSpPr/>
          <p:nvPr/>
        </p:nvSpPr>
        <p:spPr>
          <a:xfrm>
            <a:off x="7708396" y="3320389"/>
            <a:ext cx="60112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Genre is the biggest driver of lift.</a:t>
            </a:r>
          </a:p>
          <a:p>
            <a:pPr>
              <a:lnSpc>
                <a:spcPts val="2550"/>
              </a:lnSpc>
            </a:pPr>
            <a:r>
              <a:rPr lang="en-US" sz="16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matters more strongly than creative spots. </a:t>
            </a:r>
          </a:p>
          <a:p>
            <a:pPr>
              <a:lnSpc>
                <a:spcPts val="2550"/>
              </a:lnSpc>
            </a:pPr>
            <a:r>
              <a:rPr lang="en-US" sz="16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 time adds +50 visits. </a:t>
            </a:r>
          </a:p>
          <a:p>
            <a:pPr>
              <a:lnSpc>
                <a:spcPts val="2550"/>
              </a:lnSpc>
            </a:pPr>
            <a:endParaRPr lang="en-US" sz="1600">
              <a:solidFill>
                <a:srgbClr val="FFFFF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ts val="2550"/>
              </a:lnSpc>
            </a:pPr>
            <a:endParaRPr lang="en-US" sz="1600"/>
          </a:p>
        </p:txBody>
      </p:sp>
      <p:sp>
        <p:nvSpPr>
          <p:cNvPr id="13" name="Shape 7"/>
          <p:cNvSpPr/>
          <p:nvPr/>
        </p:nvSpPr>
        <p:spPr>
          <a:xfrm>
            <a:off x="4175622" y="4643202"/>
            <a:ext cx="6419374" cy="2319218"/>
          </a:xfrm>
          <a:prstGeom prst="roundRect">
            <a:avLst>
              <a:gd name="adj" fmla="val 1320"/>
            </a:avLst>
          </a:prstGeom>
          <a:solidFill>
            <a:srgbClr val="003E90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9695" y="4963387"/>
            <a:ext cx="612338" cy="61233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48049" y="5131742"/>
            <a:ext cx="275511" cy="27551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379695" y="566368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b="1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Timing Effects</a:t>
            </a:r>
            <a:endParaRPr lang="en-US" sz="2000"/>
          </a:p>
        </p:txBody>
      </p:sp>
      <p:sp>
        <p:nvSpPr>
          <p:cNvPr id="17" name="Text 9"/>
          <p:cNvSpPr/>
          <p:nvPr/>
        </p:nvSpPr>
        <p:spPr>
          <a:xfrm>
            <a:off x="4379695" y="6104933"/>
            <a:ext cx="6011228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6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 time (20–22h): +50 immediate visits, significant. </a:t>
            </a:r>
          </a:p>
          <a:p>
            <a:pPr>
              <a:lnSpc>
                <a:spcPts val="2550"/>
              </a:lnSpc>
            </a:pPr>
            <a:r>
              <a:rPr lang="en-US" sz="160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days: Friday–Sunday (high usage, operational insight).</a:t>
            </a:r>
          </a:p>
          <a:p>
            <a:pPr>
              <a:lnSpc>
                <a:spcPts val="2550"/>
              </a:lnSpc>
            </a:pPr>
            <a:endParaRPr lang="en-US"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5517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60527"/>
            <a:ext cx="9536311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Summer Campaign Recommendations</a:t>
            </a:r>
            <a:endParaRPr lang="en-US" sz="4000"/>
          </a:p>
        </p:txBody>
      </p:sp>
      <p:sp>
        <p:nvSpPr>
          <p:cNvPr id="4" name="Text 1"/>
          <p:cNvSpPr/>
          <p:nvPr/>
        </p:nvSpPr>
        <p:spPr>
          <a:xfrm>
            <a:off x="793790" y="4204573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6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528542"/>
            <a:ext cx="6419374" cy="228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3790" y="4676299"/>
            <a:ext cx="411944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 Best-Performing Creative</a:t>
            </a:r>
            <a:endParaRPr lang="en-US" sz="2000"/>
          </a:p>
        </p:txBody>
      </p:sp>
      <p:sp>
        <p:nvSpPr>
          <p:cNvPr id="7" name="Text 3"/>
          <p:cNvSpPr/>
          <p:nvPr/>
        </p:nvSpPr>
        <p:spPr>
          <a:xfrm>
            <a:off x="793790" y="5117544"/>
            <a:ext cx="64193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Spot 6 as primary execution (95.11 average lift)</a:t>
            </a:r>
            <a:endParaRPr lang="en-US" sz="1600"/>
          </a:p>
        </p:txBody>
      </p:sp>
      <p:sp>
        <p:nvSpPr>
          <p:cNvPr id="8" name="Text 4"/>
          <p:cNvSpPr/>
          <p:nvPr/>
        </p:nvSpPr>
        <p:spPr>
          <a:xfrm>
            <a:off x="7417237" y="4204573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6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237" y="4528542"/>
            <a:ext cx="6419374" cy="228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17237" y="4676299"/>
            <a:ext cx="336923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Optimise Broadcast Timing</a:t>
            </a:r>
            <a:endParaRPr lang="en-US" sz="2000"/>
          </a:p>
        </p:txBody>
      </p:sp>
      <p:sp>
        <p:nvSpPr>
          <p:cNvPr id="11" name="Text 6"/>
          <p:cNvSpPr/>
          <p:nvPr/>
        </p:nvSpPr>
        <p:spPr>
          <a:xfrm>
            <a:off x="7417237" y="5117544"/>
            <a:ext cx="64193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prime time (20:00–22:00) and high-usage days (Fri–Sun)</a:t>
            </a:r>
            <a:endParaRPr lang="en-US" sz="1600"/>
          </a:p>
        </p:txBody>
      </p:sp>
      <p:sp>
        <p:nvSpPr>
          <p:cNvPr id="12" name="Text 7"/>
          <p:cNvSpPr/>
          <p:nvPr/>
        </p:nvSpPr>
        <p:spPr>
          <a:xfrm>
            <a:off x="793790" y="5801320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6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104930"/>
            <a:ext cx="6419374" cy="22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3790" y="6273046"/>
            <a:ext cx="435280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Select High-Engagement Channels</a:t>
            </a:r>
            <a:endParaRPr lang="en-US" sz="2000"/>
          </a:p>
        </p:txBody>
      </p:sp>
      <p:sp>
        <p:nvSpPr>
          <p:cNvPr id="15" name="Text 9"/>
          <p:cNvSpPr/>
          <p:nvPr/>
        </p:nvSpPr>
        <p:spPr>
          <a:xfrm>
            <a:off x="793790" y="6714292"/>
            <a:ext cx="6419374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VOX and Kabel1 with strong-performing genres: Romance, Family, Soccer etc. </a:t>
            </a:r>
            <a:endParaRPr lang="en-US" sz="1600"/>
          </a:p>
        </p:txBody>
      </p:sp>
      <p:sp>
        <p:nvSpPr>
          <p:cNvPr id="16" name="Text 10"/>
          <p:cNvSpPr/>
          <p:nvPr/>
        </p:nvSpPr>
        <p:spPr>
          <a:xfrm>
            <a:off x="7417237" y="5801320"/>
            <a:ext cx="204073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60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7237" y="6125289"/>
            <a:ext cx="6419374" cy="228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17237" y="6273046"/>
            <a:ext cx="3938707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Favourable Ad Positions</a:t>
            </a:r>
            <a:endParaRPr lang="en-US" sz="2000"/>
          </a:p>
        </p:txBody>
      </p:sp>
      <p:sp>
        <p:nvSpPr>
          <p:cNvPr id="19" name="Text 12"/>
          <p:cNvSpPr/>
          <p:nvPr/>
        </p:nvSpPr>
        <p:spPr>
          <a:xfrm>
            <a:off x="7417237" y="6714292"/>
            <a:ext cx="6419374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early to middle positions within commercial breaks. </a:t>
            </a:r>
            <a:endParaRPr lang="en-US"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999" y="591860"/>
            <a:ext cx="4713803" cy="4364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Projected Campaign Impact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751999" y="1377434"/>
            <a:ext cx="209514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Website Traffic Lift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3089315" y="2704267"/>
            <a:ext cx="1717953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95</a:t>
            </a:r>
            <a:endParaRPr lang="en-US" sz="27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0839" y="1831300"/>
            <a:ext cx="2095143" cy="20951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999" y="4100989"/>
            <a:ext cx="639282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0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 6 baseline lift</a:t>
            </a:r>
            <a:endParaRPr lang="en-US" sz="1050"/>
          </a:p>
        </p:txBody>
      </p:sp>
      <p:sp>
        <p:nvSpPr>
          <p:cNvPr id="7" name="Text 4"/>
          <p:cNvSpPr/>
          <p:nvPr/>
        </p:nvSpPr>
        <p:spPr>
          <a:xfrm>
            <a:off x="3089315" y="5511522"/>
            <a:ext cx="1717953" cy="349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26%</a:t>
            </a:r>
            <a:endParaRPr lang="en-US" sz="27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839" y="4638556"/>
            <a:ext cx="2095143" cy="20951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999" y="6908244"/>
            <a:ext cx="639282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0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 time multiplier effect</a:t>
            </a:r>
            <a:endParaRPr lang="en-US" sz="1050"/>
          </a:p>
        </p:txBody>
      </p:sp>
      <p:sp>
        <p:nvSpPr>
          <p:cNvPr id="10" name="Text 6"/>
          <p:cNvSpPr/>
          <p:nvPr/>
        </p:nvSpPr>
        <p:spPr>
          <a:xfrm>
            <a:off x="751999" y="7288649"/>
            <a:ext cx="639282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 b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optimised lift: 110–130+ visits per airing</a:t>
            </a:r>
            <a:endParaRPr lang="en-US" sz="1050"/>
          </a:p>
        </p:txBody>
      </p:sp>
      <p:sp>
        <p:nvSpPr>
          <p:cNvPr id="11" name="Text 7"/>
          <p:cNvSpPr/>
          <p:nvPr/>
        </p:nvSpPr>
        <p:spPr>
          <a:xfrm>
            <a:off x="7493198" y="1377434"/>
            <a:ext cx="209514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Projection</a:t>
            </a:r>
            <a:endParaRPr lang="en-US" sz="1600"/>
          </a:p>
        </p:txBody>
      </p:sp>
      <p:sp>
        <p:nvSpPr>
          <p:cNvPr id="12" name="Text 8"/>
          <p:cNvSpPr/>
          <p:nvPr/>
        </p:nvSpPr>
        <p:spPr>
          <a:xfrm>
            <a:off x="7493198" y="1779032"/>
            <a:ext cx="639282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120 incremental visits:</a:t>
            </a:r>
            <a:endParaRPr lang="en-US" sz="1050"/>
          </a:p>
        </p:txBody>
      </p:sp>
      <p:sp>
        <p:nvSpPr>
          <p:cNvPr id="13" name="Text 9"/>
          <p:cNvSpPr/>
          <p:nvPr/>
        </p:nvSpPr>
        <p:spPr>
          <a:xfrm>
            <a:off x="7493198" y="2128004"/>
            <a:ext cx="639282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rate: 12%</a:t>
            </a:r>
            <a:endParaRPr lang="en-US" sz="1050"/>
          </a:p>
        </p:txBody>
      </p:sp>
      <p:sp>
        <p:nvSpPr>
          <p:cNvPr id="14" name="Text 10"/>
          <p:cNvSpPr/>
          <p:nvPr/>
        </p:nvSpPr>
        <p:spPr>
          <a:xfrm>
            <a:off x="7493198" y="2400181"/>
            <a:ext cx="639282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purchases: 14</a:t>
            </a:r>
            <a:endParaRPr lang="en-US" sz="1050"/>
          </a:p>
        </p:txBody>
      </p:sp>
      <p:sp>
        <p:nvSpPr>
          <p:cNvPr id="15" name="Text 11"/>
          <p:cNvSpPr/>
          <p:nvPr/>
        </p:nvSpPr>
        <p:spPr>
          <a:xfrm>
            <a:off x="7493198" y="2672358"/>
            <a:ext cx="639282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0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Basket value: €450</a:t>
            </a:r>
            <a:endParaRPr lang="en-US" sz="1050"/>
          </a:p>
        </p:txBody>
      </p:sp>
      <p:sp>
        <p:nvSpPr>
          <p:cNvPr id="16" name="Text 12"/>
          <p:cNvSpPr/>
          <p:nvPr/>
        </p:nvSpPr>
        <p:spPr>
          <a:xfrm>
            <a:off x="7493198" y="3035379"/>
            <a:ext cx="6392823" cy="872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850"/>
              </a:lnSpc>
              <a:buNone/>
            </a:pPr>
            <a:r>
              <a:rPr lang="en-US" sz="54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€6,300</a:t>
            </a:r>
            <a:endParaRPr lang="en-US" sz="5450"/>
          </a:p>
        </p:txBody>
      </p:sp>
      <p:sp>
        <p:nvSpPr>
          <p:cNvPr id="17" name="Text 13"/>
          <p:cNvSpPr/>
          <p:nvPr/>
        </p:nvSpPr>
        <p:spPr>
          <a:xfrm>
            <a:off x="7493198" y="4048006"/>
            <a:ext cx="6392823" cy="223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0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per optimised airing</a:t>
            </a:r>
            <a:endParaRPr lang="en-US" sz="10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5915"/>
            <a:ext cx="550449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Action Plan</a:t>
            </a:r>
            <a:endParaRPr lang="en-US" sz="4200"/>
          </a:p>
        </p:txBody>
      </p:sp>
      <p:sp>
        <p:nvSpPr>
          <p:cNvPr id="3" name="Shape 1"/>
          <p:cNvSpPr/>
          <p:nvPr/>
        </p:nvSpPr>
        <p:spPr>
          <a:xfrm>
            <a:off x="793790" y="2083356"/>
            <a:ext cx="4203978" cy="1939885"/>
          </a:xfrm>
          <a:prstGeom prst="roundRect">
            <a:avLst>
              <a:gd name="adj" fmla="val 75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52876"/>
            <a:ext cx="4203978" cy="12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24" y="1760220"/>
            <a:ext cx="646390" cy="64639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66477" y="1921788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000"/>
          </a:p>
        </p:txBody>
      </p:sp>
      <p:sp>
        <p:nvSpPr>
          <p:cNvPr id="7" name="Text 3"/>
          <p:cNvSpPr/>
          <p:nvPr/>
        </p:nvSpPr>
        <p:spPr>
          <a:xfrm>
            <a:off x="1039654" y="262199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Prioritise Spot 6</a:t>
            </a:r>
            <a:endParaRPr lang="en-US" sz="2100"/>
          </a:p>
        </p:txBody>
      </p:sp>
      <p:sp>
        <p:nvSpPr>
          <p:cNvPr id="8" name="Text 4"/>
          <p:cNvSpPr/>
          <p:nvPr/>
        </p:nvSpPr>
        <p:spPr>
          <a:xfrm>
            <a:off x="1039654" y="3087767"/>
            <a:ext cx="371225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as primary creative execution across all campaigns</a:t>
            </a:r>
            <a:endParaRPr lang="en-US" sz="1650"/>
          </a:p>
        </p:txBody>
      </p:sp>
      <p:sp>
        <p:nvSpPr>
          <p:cNvPr id="9" name="Shape 5"/>
          <p:cNvSpPr/>
          <p:nvPr/>
        </p:nvSpPr>
        <p:spPr>
          <a:xfrm>
            <a:off x="5213152" y="2083356"/>
            <a:ext cx="4203978" cy="1939885"/>
          </a:xfrm>
          <a:prstGeom prst="roundRect">
            <a:avLst>
              <a:gd name="adj" fmla="val 75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152" y="2052876"/>
            <a:ext cx="4203978" cy="12192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886" y="1760220"/>
            <a:ext cx="646390" cy="64639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85839" y="1921788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000"/>
          </a:p>
        </p:txBody>
      </p:sp>
      <p:sp>
        <p:nvSpPr>
          <p:cNvPr id="13" name="Text 7"/>
          <p:cNvSpPr/>
          <p:nvPr/>
        </p:nvSpPr>
        <p:spPr>
          <a:xfrm>
            <a:off x="5459016" y="2621994"/>
            <a:ext cx="320361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Refine Underperformers</a:t>
            </a:r>
            <a:endParaRPr lang="en-US" sz="2100"/>
          </a:p>
        </p:txBody>
      </p:sp>
      <p:sp>
        <p:nvSpPr>
          <p:cNvPr id="14" name="Text 8"/>
          <p:cNvSpPr/>
          <p:nvPr/>
        </p:nvSpPr>
        <p:spPr>
          <a:xfrm>
            <a:off x="5459016" y="3087767"/>
            <a:ext cx="371225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Redesign or eliminate weak creatives, especially Spot 7</a:t>
            </a:r>
            <a:endParaRPr lang="en-US" sz="1650"/>
          </a:p>
        </p:txBody>
      </p:sp>
      <p:sp>
        <p:nvSpPr>
          <p:cNvPr id="15" name="Shape 9"/>
          <p:cNvSpPr/>
          <p:nvPr/>
        </p:nvSpPr>
        <p:spPr>
          <a:xfrm>
            <a:off x="9632513" y="2083356"/>
            <a:ext cx="4203978" cy="1939885"/>
          </a:xfrm>
          <a:prstGeom prst="roundRect">
            <a:avLst>
              <a:gd name="adj" fmla="val 75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2513" y="2052876"/>
            <a:ext cx="4203978" cy="12192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1248" y="1760220"/>
            <a:ext cx="646390" cy="64639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05200" y="1921788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000"/>
          </a:p>
        </p:txBody>
      </p:sp>
      <p:sp>
        <p:nvSpPr>
          <p:cNvPr id="19" name="Text 11"/>
          <p:cNvSpPr/>
          <p:nvPr/>
        </p:nvSpPr>
        <p:spPr>
          <a:xfrm>
            <a:off x="9878378" y="2621994"/>
            <a:ext cx="3243858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Negotiate Premium Slots</a:t>
            </a:r>
            <a:endParaRPr lang="en-US" sz="2100"/>
          </a:p>
        </p:txBody>
      </p:sp>
      <p:sp>
        <p:nvSpPr>
          <p:cNvPr id="20" name="Text 12"/>
          <p:cNvSpPr/>
          <p:nvPr/>
        </p:nvSpPr>
        <p:spPr>
          <a:xfrm>
            <a:off x="9878378" y="3087767"/>
            <a:ext cx="371225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prime-time placements on high-engagement channels</a:t>
            </a:r>
            <a:endParaRPr lang="en-US" sz="1650"/>
          </a:p>
        </p:txBody>
      </p:sp>
      <p:sp>
        <p:nvSpPr>
          <p:cNvPr id="21" name="Shape 13"/>
          <p:cNvSpPr/>
          <p:nvPr/>
        </p:nvSpPr>
        <p:spPr>
          <a:xfrm>
            <a:off x="793790" y="4561761"/>
            <a:ext cx="6413659" cy="1939885"/>
          </a:xfrm>
          <a:prstGeom prst="roundRect">
            <a:avLst>
              <a:gd name="adj" fmla="val 75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531281"/>
            <a:ext cx="6413659" cy="12192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7424" y="4238625"/>
            <a:ext cx="646390" cy="64639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71377" y="4400193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000"/>
          </a:p>
        </p:txBody>
      </p:sp>
      <p:sp>
        <p:nvSpPr>
          <p:cNvPr id="25" name="Text 15"/>
          <p:cNvSpPr/>
          <p:nvPr/>
        </p:nvSpPr>
        <p:spPr>
          <a:xfrm>
            <a:off x="1039654" y="5100399"/>
            <a:ext cx="313670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Focus Channel Strategy</a:t>
            </a:r>
            <a:endParaRPr lang="en-US" sz="2100"/>
          </a:p>
        </p:txBody>
      </p:sp>
      <p:sp>
        <p:nvSpPr>
          <p:cNvPr id="26" name="Text 16"/>
          <p:cNvSpPr/>
          <p:nvPr/>
        </p:nvSpPr>
        <p:spPr>
          <a:xfrm>
            <a:off x="1039654" y="5566172"/>
            <a:ext cx="592193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Concentrate budget where historical engagement proved strongest</a:t>
            </a:r>
            <a:endParaRPr lang="en-US" sz="1650"/>
          </a:p>
        </p:txBody>
      </p:sp>
      <p:sp>
        <p:nvSpPr>
          <p:cNvPr id="27" name="Shape 17"/>
          <p:cNvSpPr/>
          <p:nvPr/>
        </p:nvSpPr>
        <p:spPr>
          <a:xfrm>
            <a:off x="7422833" y="4561761"/>
            <a:ext cx="6413659" cy="1939885"/>
          </a:xfrm>
          <a:prstGeom prst="roundRect">
            <a:avLst>
              <a:gd name="adj" fmla="val 75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PL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2833" y="4531281"/>
            <a:ext cx="6413659" cy="12192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6467" y="4238625"/>
            <a:ext cx="646390" cy="64639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500420" y="4400193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000"/>
          </a:p>
        </p:txBody>
      </p:sp>
      <p:sp>
        <p:nvSpPr>
          <p:cNvPr id="31" name="Text 19"/>
          <p:cNvSpPr/>
          <p:nvPr/>
        </p:nvSpPr>
        <p:spPr>
          <a:xfrm>
            <a:off x="7668697" y="510039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Testing</a:t>
            </a:r>
            <a:endParaRPr lang="en-US" sz="2100"/>
          </a:p>
        </p:txBody>
      </p:sp>
      <p:sp>
        <p:nvSpPr>
          <p:cNvPr id="32" name="Text 20"/>
          <p:cNvSpPr/>
          <p:nvPr/>
        </p:nvSpPr>
        <p:spPr>
          <a:xfrm>
            <a:off x="7668697" y="5566172"/>
            <a:ext cx="592193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ongoing A/B testing of creatives, placements, and timing</a:t>
            </a:r>
            <a:endParaRPr lang="en-US" sz="1650"/>
          </a:p>
        </p:txBody>
      </p:sp>
      <p:sp>
        <p:nvSpPr>
          <p:cNvPr id="33" name="Text 21"/>
          <p:cNvSpPr/>
          <p:nvPr/>
        </p:nvSpPr>
        <p:spPr>
          <a:xfrm>
            <a:off x="1116925" y="6986468"/>
            <a:ext cx="12719685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Analytical rigour transforms television advertising from expense to measurable investment</a:t>
            </a:r>
            <a:endParaRPr lang="en-US" sz="1650"/>
          </a:p>
        </p:txBody>
      </p:sp>
      <p:sp>
        <p:nvSpPr>
          <p:cNvPr id="34" name="Shape 22"/>
          <p:cNvSpPr/>
          <p:nvPr/>
        </p:nvSpPr>
        <p:spPr>
          <a:xfrm>
            <a:off x="793790" y="6744057"/>
            <a:ext cx="30480" cy="829628"/>
          </a:xfrm>
          <a:prstGeom prst="rect">
            <a:avLst/>
          </a:prstGeom>
          <a:solidFill>
            <a:srgbClr val="66A8EE"/>
          </a:solidFill>
          <a:ln/>
        </p:spPr>
        <p:txBody>
          <a:bodyPr/>
          <a:lstStyle/>
          <a:p>
            <a:endParaRPr lang="en-PL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44B7-84C4-CFC5-DA2E-FEA841F41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24728A3-2B45-4895-9CF2-69CAD7272AA9}"/>
              </a:ext>
            </a:extLst>
          </p:cNvPr>
          <p:cNvSpPr/>
          <p:nvPr/>
        </p:nvSpPr>
        <p:spPr>
          <a:xfrm>
            <a:off x="503510" y="1849052"/>
            <a:ext cx="584061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>
                <a:solidFill>
                  <a:srgbClr val="084D9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References: </a:t>
            </a:r>
            <a:endParaRPr lang="en-US" sz="26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288BE2-D3AF-8338-B77C-8363D3D20BD0}"/>
              </a:ext>
            </a:extLst>
          </p:cNvPr>
          <p:cNvSpPr/>
          <p:nvPr/>
        </p:nvSpPr>
        <p:spPr>
          <a:xfrm>
            <a:off x="503510" y="282047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PL" sz="1800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Infanger D, Schmidt-Trucksäss A. P value functions: An underused method to present research results and to promote quantitative reasoning. 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PL" sz="1800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Stat Med. 2019 Sep 20;38(21):4189-4197.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PL" sz="1800" i="1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PL" sz="1800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Shreffler J, Huecker MR. Hypothesis Testing, P Values, Confidence Intervals, and Significance. [Updated 2023 Mar 13]. In: StatPearls [Internet].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PL" sz="1800" i="1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Treasure Island (FL): StatPearls Publishing; 2025 Jan-. Available from: </a:t>
            </a:r>
            <a:r>
              <a:rPr lang="en-PL" sz="1800" i="1" u="sng" kern="10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https://www.ncbi.nlm.nih.gov/books/NBK557421/</a:t>
            </a:r>
            <a:endParaRPr lang="en-PL" sz="1800" i="1" kern="10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850"/>
              </a:lnSpc>
            </a:pPr>
            <a:endParaRPr lang="en-US" sz="1750"/>
          </a:p>
        </p:txBody>
      </p:sp>
    </p:spTree>
    <p:extLst>
      <p:ext uri="{BB962C8B-B14F-4D97-AF65-F5344CB8AC3E}">
        <p14:creationId xmlns:p14="http://schemas.microsoft.com/office/powerpoint/2010/main" val="3616578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27</Slides>
  <Notes>27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13</cp:revision>
  <dcterms:created xsi:type="dcterms:W3CDTF">2025-12-01T18:44:55Z</dcterms:created>
  <dcterms:modified xsi:type="dcterms:W3CDTF">2026-05-06T08:46:20Z</dcterms:modified>
</cp:coreProperties>
</file>